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本日はお時間をいただきありがとうございます。</a:t>
            </a:r>
          </a:p>
          <a:p>
            <a:r>
              <a:t>2026年度第2四半期を迎えるにあたり、今後のPM育成方針についてご説明します。</a:t>
            </a:r>
          </a:p>
          <a:p>
            <a:r>
              <a:t>1Q（7〜9月）においては、プロジェクト現場を中心に座学とOJTによる育成をスタートさせましたが、今回改めて共通の基準となる「PM_指標.xlsx」を策定しました。</a:t>
            </a:r>
          </a:p>
          <a:p>
            <a:r>
              <a:t>本日は、1Qの振り返りと、2Q以降この指標をどのように活用して皆さん一人ひとりの能力向上と「自走」を実現していくかをお話しします。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Qでは、まず現場で経験を積むことを重視し、OJTと座学を進めてきました。現場での奮闘により確かな第一歩を踏み出せた一方で、明確な統一指標を持っていなかったため、「自分は今どのレベルにいるのか」「指導者として何を基準に評価・育成すべきか」という基準が属人化していました。</a:t>
            </a:r>
          </a:p>
          <a:p>
            <a:r>
              <a:t>また、案件のフェーズや特性によって「この案件ではリスク管理の機会がなかった」「要件定義の場がなかった」といった偏りが生じ、それをどう補うかも曖昧でした。この課題を解決するために作成したのが「PM_指標.xlsx」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2Qからの基本方針は、感覚的な指導から「客観的な指標に基づく計画的育成」への転換です。</a:t>
            </a:r>
          </a:p>
          <a:p>
            <a:r>
              <a:t>「PM_指標.xlsx」は、評価をつけるためだけのシートではありません。育成対象者の皆さんにとっては「自分自身のスキルマップ・成長の羅針盤」であり、指導者にとっては「次に取り組ませるべき業務や課題を見極めるツール」です。</a:t>
            </a:r>
          </a:p>
          <a:p>
            <a:r>
              <a:t>最終的なゴールは、現場で一人で業務をやり切れる「自走」です。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「PM_指標.xlsx」では、プロジェクトマネジメントを12のカテゴリに分類し、それぞれに求められる能力を計49個定義しました。</a:t>
            </a:r>
          </a:p>
          <a:p>
            <a:r>
              <a:t>要件定義からスコープ、スケジュール、コスト、品質はもちろん、リソース管理やステークホルダー調整、調達、そして最後の振り返りまでを網羅しています。</a:t>
            </a:r>
          </a:p>
          <a:p>
            <a:r>
              <a:t>シートには各カテゴリごとの個別シートが用意されており、全体像と詳細が直結しています。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能力の定義でこだわった点が、「概要」と「詳細」を分けたことです。</a:t>
            </a:r>
          </a:p>
          <a:p>
            <a:r>
              <a:t>単に「コミュニケーション力」「分析力」と書いてあっても、人によって解釈が異なります。</a:t>
            </a:r>
          </a:p>
          <a:p>
            <a:r>
              <a:t>そのため、概要で「この能力の本質は何か」を一文で示し、詳細で「PM業務において具体的にどう行動し、どんな成果物・証跡を残す必要があるか」を明記しました。これにより、本人も指導者も迷わず同じ基準でスキルを見つめ直すことが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ここが本フレームワークの最も重要なポイントです。</a:t>
            </a:r>
          </a:p>
          <a:p>
            <a:r>
              <a:t>1Qでは「OJT機会がないと学べない」「座学をやっても現場で活かせているかわからない」という問題がありました。</a:t>
            </a:r>
          </a:p>
          <a:p>
            <a:r>
              <a:t>そこで今回、教育と評価を「座学」「OJT」「実践」の3本柱に明確に分けました。</a:t>
            </a:r>
          </a:p>
          <a:p>
            <a:r>
              <a:t>案件の都合でOJTができない場合でも、座学やケース演習で先行してインプットを進められます。そして実務機会が訪れた際にOJT・実践へとスムーズに接続する構造にしています。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本制度の最終ゴールである「自走」の定義です。</a:t>
            </a:r>
          </a:p>
          <a:p>
            <a:r>
              <a:t>「1回たまたまうまくいった」ではなく、「連続2回の実務機会」で定性レベル4以上、かつ定量目標をクリアしていることを条件としました。</a:t>
            </a:r>
          </a:p>
          <a:p>
            <a:r>
              <a:t>ここで特に強調したいのは、「一人で全部抱え込んで誰にも相談しない」のは自走ではないということです。</a:t>
            </a:r>
          </a:p>
          <a:p>
            <a:r>
              <a:t>PMとして自分の権限範囲を理解し、判断できない例外やリスクが生じた際に「選択肢と推奨案を持って適時に上申できる」ことこそが、真の自走です。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評価基準の曖昧さを排除するため、定性評価には1〜5の共通ルーブリックを採用しました。Excel上でも入力規則により1〜5（OJTは「機会なし」を含む）のみが選択できるよう制限しています。</a:t>
            </a:r>
          </a:p>
          <a:p>
            <a:r>
              <a:t>また、実務機会に恵まれなかった項目について「未達（レベル1）」とするのではなく、「機会なし」として記録し、次期以降の育成計画で優先的にアサインする材料として扱います。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運用の流れです。</a:t>
            </a:r>
          </a:p>
          <a:p>
            <a:r>
              <a:t>49の能力すべてを3ヶ月で一気にマスターすることは不可能です。</a:t>
            </a:r>
          </a:p>
          <a:p>
            <a:r>
              <a:t>期初に現状の棚卸しを行い、「今期はこの3つの能力を重点的に伸ばす」と絞り込んでコミットします。</a:t>
            </a:r>
          </a:p>
          <a:p>
            <a:r>
              <a:t>月次の1on1で状況を確認しながら進め、四半期末に評価と自走判定を行います。これを繰り返すことで、無理なく確実に能力の幅を広げていきます。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この仕組みを機能させる最大の鍵は、育成対象者と指導員のパートナーシップです。</a:t>
            </a:r>
          </a:p>
          <a:p>
            <a:r>
              <a:t>対象者の皆さんは、この指標を「会社からのノルマ」ではなく「自分の市場価値を高めるチェックリスト」と捉えて主体的に活用してください。</a:t>
            </a:r>
          </a:p>
          <a:p>
            <a:r>
              <a:t>指導員の皆さんは、単なる粗探しではなく、「どうすればこの項目でレベル4に到達できるか」を一緒に考える伴走者としてサポートをお願いします。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今後のスケジュールです。</a:t>
            </a:r>
          </a:p>
          <a:p>
            <a:r>
              <a:t>本日この説明を行った後、10月中に対象者の皆さんには初回の自己棚卸しをしていただき、指導員とのキックオフ面談で2Qの重点能力を決定します。</a:t>
            </a:r>
          </a:p>
          <a:p>
            <a:r>
              <a:t>11月・12月で実務と座学を回し、12月末に2Qの評価会を実施する予定です。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t>
            </a:r>
          </a:p>
          <a:p>
            <a:r>
              <a:t>1. 1Qの経験を糧に、2Qからは「PM_指標.xlsx」を共通指標として導入します。</a:t>
            </a:r>
          </a:p>
          <a:p>
            <a:r>
              <a:t>2. 座学（知識）、OJT（伴走観察）、実践（実案件での成果）を分離し、実務機会の有無に左右されない育成環境を整えます。</a:t>
            </a:r>
          </a:p>
          <a:p>
            <a:r>
              <a:t>3. 最終目標は「自走」。定量目標達成＋定性評価4以上を連続2回実証し、自信を持って案件を推進できるPMを目指します。</a:t>
            </a:r>
          </a:p>
          <a:p/>
          <a:p>
            <a:r>
              <a:t>ご質問やご意見などありましたらお願いいたします。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914400" y="1645920"/>
            <a:ext cx="10362895" cy="2926080"/>
          </a:xfrm>
          <a:prstGeom prst="rect">
            <a:avLst/>
          </a:prstGeom>
          <a:noFill/>
        </p:spPr>
        <p:txBody>
          <a:bodyPr wrap="square">
            <a:spAutoFit/>
          </a:bodyPr>
          <a:lstStyle/>
          <a:p>
            <a:pPr>
              <a:spcAft>
                <a:spcPts val="1400"/>
              </a:spcAft>
              <a:defRPr sz="1600" b="1">
                <a:solidFill>
                  <a:srgbClr val="D9EAF7"/>
                </a:solidFill>
                <a:latin typeface="Meiryo UI"/>
              </a:defRPr>
            </a:pPr>
            <a:r>
              <a:t>2026年度 PM育成プログラム 改定説明会</a:t>
            </a:r>
          </a:p>
          <a:p>
            <a:pPr>
              <a:spcAft>
                <a:spcPts val="1400"/>
              </a:spcAft>
              <a:defRPr sz="3600" b="1">
                <a:solidFill>
                  <a:srgbClr val="FFFFFF"/>
                </a:solidFill>
                <a:latin typeface="Meiryo UI"/>
              </a:defRPr>
            </a:pPr>
            <a:r>
              <a:t>2026年度 2Q以降 PM育成方針</a:t>
            </a:r>
          </a:p>
          <a:p>
            <a:pPr>
              <a:defRPr sz="2000">
                <a:solidFill>
                  <a:srgbClr val="E2F0D9"/>
                </a:solidFill>
                <a:latin typeface="Meiryo UI"/>
              </a:defRPr>
            </a:pPr>
            <a:r>
              <a:t>〜「PM_指標.xlsx」を活用した自走型PMの計画的育成〜</a:t>
            </a:r>
          </a:p>
        </p:txBody>
      </p:sp>
      <p:sp>
        <p:nvSpPr>
          <p:cNvPr id="3" name="Rounded Rectangle 2"/>
          <p:cNvSpPr/>
          <p:nvPr/>
        </p:nvSpPr>
        <p:spPr>
          <a:xfrm>
            <a:off x="914400" y="4754880"/>
            <a:ext cx="10362895" cy="1280160"/>
          </a:xfrm>
          <a:prstGeom prst="roundRect">
            <a:avLst/>
          </a:prstGeom>
          <a:solidFill>
            <a:srgbClr val="0F2541"/>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365760" tIns="228600"/>
          <a:lstStyle/>
          <a:p>
            <a:pPr algn="ctr">
              <a:spcAft>
                <a:spcPts val="400"/>
              </a:spcAft>
              <a:defRPr sz="1200">
                <a:solidFill>
                  <a:srgbClr val="FFFFFF"/>
                </a:solidFill>
                <a:latin typeface="Meiryo UI"/>
              </a:defRPr>
            </a:pPr>
            <a:r>
              <a:t>■ 対象者： PM育成対象者、OJT指導員（メンター）、プロジェクトマネージャー、組織リーダー</a:t>
            </a:r>
          </a:p>
          <a:p>
            <a:pPr>
              <a:defRPr sz="1200">
                <a:solidFill>
                  <a:srgbClr val="C8DCF0"/>
                </a:solidFill>
                <a:latin typeface="Meiryo UI"/>
              </a:defRPr>
            </a:pPr>
            <a:r>
              <a:t>■ 発表組織： プロジェクトマネジメント推進 / 育成担当　　■ 日付： 2026年10月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1Q(7月〜9月)の振り返りと見えてきた3つの課題</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2 / 12</a:t>
            </a:r>
          </a:p>
        </p:txBody>
      </p:sp>
      <p:sp>
        <p:nvSpPr>
          <p:cNvPr id="5" name="Rectangle 4"/>
          <p:cNvSpPr/>
          <p:nvPr/>
        </p:nvSpPr>
        <p:spPr>
          <a:xfrm>
            <a:off x="731520" y="1371600"/>
            <a:ext cx="10728655" cy="777240"/>
          </a:xfrm>
          <a:prstGeom prst="rect">
            <a:avLst/>
          </a:prstGeom>
          <a:solidFill>
            <a:srgbClr val="D9EAF7"/>
          </a:solidFill>
          <a:ln>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100">
                <a:solidFill>
                  <a:srgbClr val="17365D"/>
                </a:solidFill>
                <a:latin typeface="Meiryo UI"/>
              </a:defRPr>
            </a:pPr>
            <a:r>
              <a:t>【1Qの実績】 実案件を通じたOJTと基礎知識の座学を開始。現場での実務経験の蓄積は進んだものの、「共通の指標」を持たずに進めたことで以下の3つの本質的な課題が浮き彫りとなりました。</a:t>
            </a:r>
          </a:p>
        </p:txBody>
      </p:sp>
      <p:sp>
        <p:nvSpPr>
          <p:cNvPr id="6" name="Rounded Rectangle 5"/>
          <p:cNvSpPr/>
          <p:nvPr/>
        </p:nvSpPr>
        <p:spPr>
          <a:xfrm>
            <a:off x="731520" y="2331720"/>
            <a:ext cx="3429000" cy="30175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200"/>
              </a:spcAft>
              <a:defRPr sz="1100" b="1">
                <a:solidFill>
                  <a:srgbClr val="D35400"/>
                </a:solidFill>
                <a:latin typeface="Meiryo UI"/>
              </a:defRPr>
            </a:pPr>
            <a:r>
              <a:t>課題 ①</a:t>
            </a:r>
          </a:p>
          <a:p>
            <a:pPr>
              <a:spcAft>
                <a:spcPts val="1000"/>
              </a:spcAft>
              <a:defRPr sz="1500" b="1">
                <a:solidFill>
                  <a:srgbClr val="17365D"/>
                </a:solidFill>
                <a:latin typeface="Meiryo UI"/>
              </a:defRPr>
            </a:pPr>
            <a:r>
              <a:t>到達基準の曖昧さ</a:t>
            </a:r>
          </a:p>
          <a:p>
            <a:pPr>
              <a:spcAft>
                <a:spcPts val="800"/>
              </a:spcAft>
              <a:defRPr sz="1050">
                <a:solidFill>
                  <a:srgbClr val="222222"/>
                </a:solidFill>
                <a:latin typeface="Meiryo UI"/>
              </a:defRPr>
            </a:pPr>
            <a:r>
              <a:t>【1Qの実態】</a:t>
            </a:r>
            <a:br/>
            <a:r>
              <a:t>共通の指標を持たずにプロジェクト個別で育成を実施</a:t>
            </a:r>
          </a:p>
          <a:p>
            <a:pPr>
              <a:defRPr sz="1050">
                <a:solidFill>
                  <a:srgbClr val="A02828"/>
                </a:solidFill>
                <a:latin typeface="Meiryo UI"/>
              </a:defRPr>
            </a:pPr>
            <a:r>
              <a:t>【発生した問題】</a:t>
            </a:r>
            <a:br/>
            <a:r>
              <a:t>「どこまでできれば一人前・自走なのか」のゴールが不明確で、案件ごとに指導基準のバラつきが発生</a:t>
            </a:r>
          </a:p>
        </p:txBody>
      </p:sp>
      <p:sp>
        <p:nvSpPr>
          <p:cNvPr id="7" name="Rounded Rectangle 6"/>
          <p:cNvSpPr/>
          <p:nvPr/>
        </p:nvSpPr>
        <p:spPr>
          <a:xfrm>
            <a:off x="4379976" y="2331720"/>
            <a:ext cx="3429000" cy="30175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200"/>
              </a:spcAft>
              <a:defRPr sz="1100" b="1">
                <a:solidFill>
                  <a:srgbClr val="D35400"/>
                </a:solidFill>
                <a:latin typeface="Meiryo UI"/>
              </a:defRPr>
            </a:pPr>
            <a:r>
              <a:t>課題 ②</a:t>
            </a:r>
          </a:p>
          <a:p>
            <a:pPr>
              <a:spcAft>
                <a:spcPts val="1000"/>
              </a:spcAft>
              <a:defRPr sz="1500" b="1">
                <a:solidFill>
                  <a:srgbClr val="17365D"/>
                </a:solidFill>
                <a:latin typeface="Meiryo UI"/>
              </a:defRPr>
            </a:pPr>
            <a:r>
              <a:t>現在地の可視化不足</a:t>
            </a:r>
          </a:p>
          <a:p>
            <a:pPr>
              <a:spcAft>
                <a:spcPts val="800"/>
              </a:spcAft>
              <a:defRPr sz="1050">
                <a:solidFill>
                  <a:srgbClr val="222222"/>
                </a:solidFill>
                <a:latin typeface="Meiryo UI"/>
              </a:defRPr>
            </a:pPr>
            <a:r>
              <a:t>【1Qの実態】</a:t>
            </a:r>
            <a:br/>
            <a:r>
              <a:t>指導者・本人の感覚的な印象で進捗・習熟度を確認</a:t>
            </a:r>
          </a:p>
          <a:p>
            <a:pPr>
              <a:defRPr sz="1050">
                <a:solidFill>
                  <a:srgbClr val="A02828"/>
                </a:solidFill>
                <a:latin typeface="Meiryo UI"/>
              </a:defRPr>
            </a:pPr>
            <a:r>
              <a:t>【発生した問題】</a:t>
            </a:r>
            <a:br/>
            <a:r>
              <a:t>個人の強み・弱み、習得済み/未習得のスキル領域が定量・定性的に把握できず、育成が属人化</a:t>
            </a:r>
          </a:p>
        </p:txBody>
      </p:sp>
      <p:sp>
        <p:nvSpPr>
          <p:cNvPr id="8" name="Rounded Rectangle 7"/>
          <p:cNvSpPr/>
          <p:nvPr/>
        </p:nvSpPr>
        <p:spPr>
          <a:xfrm>
            <a:off x="8028432" y="2331720"/>
            <a:ext cx="3429000" cy="30175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200"/>
              </a:spcAft>
              <a:defRPr sz="1100" b="1">
                <a:solidFill>
                  <a:srgbClr val="D35400"/>
                </a:solidFill>
                <a:latin typeface="Meiryo UI"/>
              </a:defRPr>
            </a:pPr>
            <a:r>
              <a:t>課題 ③</a:t>
            </a:r>
          </a:p>
          <a:p>
            <a:pPr>
              <a:spcAft>
                <a:spcPts val="1000"/>
              </a:spcAft>
              <a:defRPr sz="1500" b="1">
                <a:solidFill>
                  <a:srgbClr val="17365D"/>
                </a:solidFill>
                <a:latin typeface="Meiryo UI"/>
              </a:defRPr>
            </a:pPr>
            <a:r>
              <a:t>教育と評価の分断</a:t>
            </a:r>
          </a:p>
          <a:p>
            <a:pPr>
              <a:spcAft>
                <a:spcPts val="800"/>
              </a:spcAft>
              <a:defRPr sz="1050">
                <a:solidFill>
                  <a:srgbClr val="222222"/>
                </a:solidFill>
                <a:latin typeface="Meiryo UI"/>
              </a:defRPr>
            </a:pPr>
            <a:r>
              <a:t>【1Qの実態】</a:t>
            </a:r>
            <a:br/>
            <a:r>
              <a:t>座学で学んだ内容が現場実務にどう活きたか追跡困難</a:t>
            </a:r>
          </a:p>
          <a:p>
            <a:pPr>
              <a:defRPr sz="1050">
                <a:solidFill>
                  <a:srgbClr val="A02828"/>
                </a:solidFill>
                <a:latin typeface="Meiryo UI"/>
              </a:defRPr>
            </a:pPr>
            <a:r>
              <a:t>【発生した問題】</a:t>
            </a:r>
            <a:br/>
            <a:r>
              <a:t>案件フェーズによりOJT機会に偏りがあり、実務機会がない項目が放置される・座学が受けっぱなしになる</a:t>
            </a:r>
          </a:p>
        </p:txBody>
      </p:sp>
      <p:sp>
        <p:nvSpPr>
          <p:cNvPr id="9" name="Rectangle 8"/>
          <p:cNvSpPr/>
          <p:nvPr/>
        </p:nvSpPr>
        <p:spPr>
          <a:xfrm>
            <a:off x="731520" y="5532120"/>
            <a:ext cx="10728655" cy="6858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200" b="1">
                <a:solidFill>
                  <a:srgbClr val="FFFFFF"/>
                </a:solidFill>
                <a:latin typeface="Meiryo UI"/>
              </a:defRPr>
            </a:pPr>
            <a:r>
              <a:t>総括： 経験頼みの育成から脱却し、個人の体系的な能力向上を果たすには「客観的かつ共通の指標」が不可欠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2Q(10月〜)の基本方針・育成コンセプト</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3 / 12</a:t>
            </a:r>
          </a:p>
        </p:txBody>
      </p:sp>
      <p:sp>
        <p:nvSpPr>
          <p:cNvPr id="5" name="Rounded Rectangle 4"/>
          <p:cNvSpPr/>
          <p:nvPr/>
        </p:nvSpPr>
        <p:spPr>
          <a:xfrm>
            <a:off x="731520" y="1371600"/>
            <a:ext cx="10728655" cy="1097280"/>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spcAft>
                <a:spcPts val="200"/>
              </a:spcAft>
              <a:defRPr sz="1200" b="1">
                <a:solidFill>
                  <a:srgbClr val="D9EAF7"/>
                </a:solidFill>
                <a:latin typeface="Meiryo UI"/>
              </a:defRPr>
            </a:pPr>
            <a:r>
              <a:t>【 2Qの基本方針 】</a:t>
            </a:r>
          </a:p>
          <a:p>
            <a:pPr>
              <a:defRPr sz="1500" b="1">
                <a:solidFill>
                  <a:srgbClr val="FFFFFF"/>
                </a:solidFill>
                <a:latin typeface="Meiryo UI"/>
              </a:defRPr>
            </a:pPr>
            <a:r>
              <a:t>「PM_指標.xlsx」を育成対象者と指導者の共通言語とし、</a:t>
            </a:r>
            <a:br/>
            <a:r>
              <a:t>『現在地の把握 → 計画的習得 → 証跡に基づく自走判定』のサイクルを確立する。</a:t>
            </a:r>
          </a:p>
        </p:txBody>
      </p:sp>
      <p:sp>
        <p:nvSpPr>
          <p:cNvPr id="6" name="Rounded Rectangle 5"/>
          <p:cNvSpPr/>
          <p:nvPr/>
        </p:nvSpPr>
        <p:spPr>
          <a:xfrm>
            <a:off x="731520" y="2697480"/>
            <a:ext cx="3429000" cy="34747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822960"/>
          <a:lstStyle/>
          <a:p>
            <a:pPr algn="ctr">
              <a:spcAft>
                <a:spcPts val="1200"/>
              </a:spcAft>
              <a:defRPr sz="1500" b="1">
                <a:solidFill>
                  <a:srgbClr val="17365D"/>
                </a:solidFill>
                <a:latin typeface="Meiryo UI"/>
              </a:defRPr>
            </a:pPr>
            <a:r>
              <a:t>共通の物差し（指標）を持つ</a:t>
            </a:r>
          </a:p>
          <a:p>
            <a:pPr>
              <a:defRPr sz="1100">
                <a:solidFill>
                  <a:srgbClr val="222222"/>
                </a:solidFill>
                <a:latin typeface="Meiryo UI"/>
              </a:defRPr>
            </a:pPr>
            <a:r>
              <a:t>どのプロジェクトに所属していても、公平・一貫した基準で能力を評価・育成できる環境を実現。</a:t>
            </a:r>
            <a:br/>
            <a:r>
              <a:t>社内標準の共通言語として客観的にスキルを棚卸しします。</a:t>
            </a:r>
          </a:p>
        </p:txBody>
      </p:sp>
      <p:sp>
        <p:nvSpPr>
          <p:cNvPr id="7" name="Rounded Rectangle 6"/>
          <p:cNvSpPr/>
          <p:nvPr/>
        </p:nvSpPr>
        <p:spPr>
          <a:xfrm>
            <a:off x="731520" y="2697480"/>
            <a:ext cx="3429000" cy="685800"/>
          </a:xfrm>
          <a:prstGeom prst="roundRect">
            <a:avLst/>
          </a:prstGeom>
          <a:solidFill>
            <a:srgbClr val="D9EAF7"/>
          </a:solidFill>
          <a:ln>
            <a:noFill/>
          </a:ln>
        </p:spPr>
        <p:style>
          <a:lnRef idx="1">
            <a:schemeClr val="accent1"/>
          </a:lnRef>
          <a:fillRef idx="3">
            <a:schemeClr val="accent1"/>
          </a:fillRef>
          <a:effectRef idx="2">
            <a:schemeClr val="accent1"/>
          </a:effectRef>
          <a:fontRef idx="minor">
            <a:schemeClr val="lt1"/>
          </a:fontRef>
        </p:style>
        <p:txBody>
          <a:bodyPr rtlCol="0" anchor="ctr" lIns="228600" tIns="109728"/>
          <a:lstStyle/>
          <a:p>
            <a:pPr algn="ctr">
              <a:defRPr sz="1100" b="1">
                <a:solidFill>
                  <a:srgbClr val="2B547E"/>
                </a:solidFill>
                <a:latin typeface="Meiryo UI"/>
              </a:defRPr>
            </a:pPr>
            <a:r>
              <a:t>コンセプト ①</a:t>
            </a:r>
          </a:p>
        </p:txBody>
      </p:sp>
      <p:sp>
        <p:nvSpPr>
          <p:cNvPr id="8" name="Rounded Rectangle 7"/>
          <p:cNvSpPr/>
          <p:nvPr/>
        </p:nvSpPr>
        <p:spPr>
          <a:xfrm>
            <a:off x="4379976" y="2697480"/>
            <a:ext cx="3429000" cy="34747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822960"/>
          <a:lstStyle/>
          <a:p>
            <a:pPr algn="ctr">
              <a:spcAft>
                <a:spcPts val="1200"/>
              </a:spcAft>
              <a:defRPr sz="1500" b="1">
                <a:solidFill>
                  <a:srgbClr val="17365D"/>
                </a:solidFill>
                <a:latin typeface="Meiryo UI"/>
              </a:defRPr>
            </a:pPr>
            <a:r>
              <a:t>個人の成長にフォーカス</a:t>
            </a:r>
          </a:p>
          <a:p>
            <a:pPr>
              <a:defRPr sz="1100">
                <a:solidFill>
                  <a:srgbClr val="222222"/>
                </a:solidFill>
                <a:latin typeface="Meiryo UI"/>
              </a:defRPr>
            </a:pPr>
            <a:r>
              <a:t>一律の詰め込み教育ではなく、個人の強み・伸ばすべき能力に合わせたオーダーメイドの育成計画を作成。</a:t>
            </a:r>
            <a:br/>
            <a:r>
              <a:t>案件フェーズの違いを座学とOJTで柔軟に補完します。</a:t>
            </a:r>
          </a:p>
        </p:txBody>
      </p:sp>
      <p:sp>
        <p:nvSpPr>
          <p:cNvPr id="9" name="Rounded Rectangle 8"/>
          <p:cNvSpPr/>
          <p:nvPr/>
        </p:nvSpPr>
        <p:spPr>
          <a:xfrm>
            <a:off x="4379976" y="2697480"/>
            <a:ext cx="3429000" cy="685800"/>
          </a:xfrm>
          <a:prstGeom prst="roundRect">
            <a:avLst/>
          </a:prstGeom>
          <a:solidFill>
            <a:srgbClr val="D9EAF7"/>
          </a:solidFill>
          <a:ln>
            <a:noFill/>
          </a:ln>
        </p:spPr>
        <p:style>
          <a:lnRef idx="1">
            <a:schemeClr val="accent1"/>
          </a:lnRef>
          <a:fillRef idx="3">
            <a:schemeClr val="accent1"/>
          </a:fillRef>
          <a:effectRef idx="2">
            <a:schemeClr val="accent1"/>
          </a:effectRef>
          <a:fontRef idx="minor">
            <a:schemeClr val="lt1"/>
          </a:fontRef>
        </p:style>
        <p:txBody>
          <a:bodyPr rtlCol="0" anchor="ctr" lIns="228600" tIns="109728"/>
          <a:lstStyle/>
          <a:p>
            <a:pPr algn="ctr">
              <a:defRPr sz="1100" b="1">
                <a:solidFill>
                  <a:srgbClr val="2B547E"/>
                </a:solidFill>
                <a:latin typeface="Meiryo UI"/>
              </a:defRPr>
            </a:pPr>
            <a:r>
              <a:t>コンセプト ②</a:t>
            </a:r>
          </a:p>
        </p:txBody>
      </p:sp>
      <p:sp>
        <p:nvSpPr>
          <p:cNvPr id="10" name="Rounded Rectangle 9"/>
          <p:cNvSpPr/>
          <p:nvPr/>
        </p:nvSpPr>
        <p:spPr>
          <a:xfrm>
            <a:off x="8028432" y="2697480"/>
            <a:ext cx="3429000" cy="34747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822960"/>
          <a:lstStyle/>
          <a:p>
            <a:pPr algn="ctr">
              <a:spcAft>
                <a:spcPts val="1200"/>
              </a:spcAft>
              <a:defRPr sz="1500" b="1">
                <a:solidFill>
                  <a:srgbClr val="17365D"/>
                </a:solidFill>
                <a:latin typeface="Meiryo UI"/>
              </a:defRPr>
            </a:pPr>
            <a:r>
              <a:t>「自走」を最終ゴールに設定</a:t>
            </a:r>
          </a:p>
          <a:p>
            <a:pPr>
              <a:defRPr sz="1100">
                <a:solidFill>
                  <a:srgbClr val="222222"/>
                </a:solidFill>
                <a:latin typeface="Meiryo UI"/>
              </a:defRPr>
            </a:pPr>
            <a:r>
              <a:t>単なる知識の習得や作業指示待ちを脱し、自らの権限で業務を完結させ、例外時は適切に上申できる「自走型PM」への到達を明確なゴールとします。</a:t>
            </a:r>
          </a:p>
        </p:txBody>
      </p:sp>
      <p:sp>
        <p:nvSpPr>
          <p:cNvPr id="11" name="Rounded Rectangle 10"/>
          <p:cNvSpPr/>
          <p:nvPr/>
        </p:nvSpPr>
        <p:spPr>
          <a:xfrm>
            <a:off x="8028432" y="2697480"/>
            <a:ext cx="3429000" cy="685800"/>
          </a:xfrm>
          <a:prstGeom prst="roundRect">
            <a:avLst/>
          </a:prstGeom>
          <a:solidFill>
            <a:srgbClr val="D9EAF7"/>
          </a:solidFill>
          <a:ln>
            <a:noFill/>
          </a:ln>
        </p:spPr>
        <p:style>
          <a:lnRef idx="1">
            <a:schemeClr val="accent1"/>
          </a:lnRef>
          <a:fillRef idx="3">
            <a:schemeClr val="accent1"/>
          </a:fillRef>
          <a:effectRef idx="2">
            <a:schemeClr val="accent1"/>
          </a:effectRef>
          <a:fontRef idx="minor">
            <a:schemeClr val="lt1"/>
          </a:fontRef>
        </p:style>
        <p:txBody>
          <a:bodyPr rtlCol="0" anchor="ctr" lIns="228600" tIns="109728"/>
          <a:lstStyle/>
          <a:p>
            <a:pPr algn="ctr">
              <a:defRPr sz="1100" b="1">
                <a:solidFill>
                  <a:srgbClr val="2B547E"/>
                </a:solidFill>
                <a:latin typeface="Meiryo UI"/>
              </a:defRPr>
            </a:pPr>
            <a:r>
              <a:t>コンセプト ③</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PM能力フレームワーク（12カテゴリ・49能力の構造）</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4 / 12</a:t>
            </a:r>
          </a:p>
        </p:txBody>
      </p:sp>
      <p:sp>
        <p:nvSpPr>
          <p:cNvPr id="5" name="TextBox 4"/>
          <p:cNvSpPr txBox="1"/>
          <p:nvPr/>
        </p:nvSpPr>
        <p:spPr>
          <a:xfrm>
            <a:off x="731520" y="1371600"/>
            <a:ext cx="10728655" cy="548640"/>
          </a:xfrm>
          <a:prstGeom prst="rect">
            <a:avLst/>
          </a:prstGeom>
          <a:noFill/>
        </p:spPr>
        <p:txBody>
          <a:bodyPr wrap="none" lIns="0" tIns="0">
            <a:spAutoFit/>
          </a:bodyPr>
          <a:lstStyle/>
          <a:p>
            <a:pPr>
              <a:defRPr sz="1100">
                <a:solidFill>
                  <a:srgbClr val="222222"/>
                </a:solidFill>
                <a:latin typeface="Meiryo UI"/>
              </a:defRPr>
            </a:pPr>
            <a:r>
              <a:t>PMBOK等の国際標準体系に準拠し、プロジェクト全工程を12カテゴリ・49の必要能力に体系化。全シートが個別展開されています。</a:t>
            </a:r>
          </a:p>
        </p:txBody>
      </p:sp>
      <p:sp>
        <p:nvSpPr>
          <p:cNvPr id="6" name="Rounded Rectangle 5"/>
          <p:cNvSpPr/>
          <p:nvPr/>
        </p:nvSpPr>
        <p:spPr>
          <a:xfrm>
            <a:off x="731520" y="2011680"/>
            <a:ext cx="3429000" cy="411480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011680"/>
            <a:ext cx="3429000" cy="548640"/>
          </a:xfrm>
          <a:prstGeom prst="round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Phase 1: 立ち上げ・計画フェーズ</a:t>
            </a:r>
          </a:p>
        </p:txBody>
      </p:sp>
      <p:sp>
        <p:nvSpPr>
          <p:cNvPr id="8" name="TextBox 7"/>
          <p:cNvSpPr txBox="1"/>
          <p:nvPr/>
        </p:nvSpPr>
        <p:spPr>
          <a:xfrm>
            <a:off x="914400" y="2651760"/>
            <a:ext cx="3063240" cy="3383280"/>
          </a:xfrm>
          <a:prstGeom prst="rect">
            <a:avLst/>
          </a:prstGeom>
          <a:noFill/>
        </p:spPr>
        <p:txBody>
          <a:bodyPr wrap="square" lIns="0" rIns="0" tIns="0">
            <a:spAutoFit/>
          </a:bodyPr>
          <a:lstStyle/>
          <a:p>
            <a:pPr>
              <a:spcAft>
                <a:spcPts val="100"/>
              </a:spcAft>
              <a:defRPr sz="1100" b="1">
                <a:solidFill>
                  <a:srgbClr val="17365D"/>
                </a:solidFill>
                <a:latin typeface="Meiryo UI"/>
              </a:defRPr>
            </a:pPr>
            <a:r>
              <a:t>■ 要件管理 (5能力)</a:t>
            </a:r>
          </a:p>
          <a:p>
            <a:pPr>
              <a:spcAft>
                <a:spcPts val="600"/>
              </a:spcAft>
              <a:defRPr sz="950">
                <a:solidFill>
                  <a:srgbClr val="222222"/>
                </a:solidFill>
                <a:latin typeface="Meiryo UI"/>
              </a:defRPr>
            </a:pPr>
            <a:r>
              <a:t>ヒアリング力、ファシリテーション力、論理的思考能力、業務理解力、文章作成能力</a:t>
            </a:r>
          </a:p>
          <a:p>
            <a:pPr>
              <a:spcAft>
                <a:spcPts val="100"/>
              </a:spcAft>
              <a:defRPr sz="1100" b="1">
                <a:solidFill>
                  <a:srgbClr val="17365D"/>
                </a:solidFill>
                <a:latin typeface="Meiryo UI"/>
              </a:defRPr>
            </a:pPr>
            <a:r>
              <a:t>■ スコープ管理 (4能力)</a:t>
            </a:r>
          </a:p>
          <a:p>
            <a:pPr>
              <a:spcAft>
                <a:spcPts val="600"/>
              </a:spcAft>
              <a:defRPr sz="950">
                <a:solidFill>
                  <a:srgbClr val="222222"/>
                </a:solidFill>
                <a:latin typeface="Meiryo UI"/>
              </a:defRPr>
            </a:pPr>
            <a:r>
              <a:t>構造化思考力、分析力、交渉力、合意形成力</a:t>
            </a:r>
          </a:p>
          <a:p>
            <a:pPr>
              <a:spcAft>
                <a:spcPts val="100"/>
              </a:spcAft>
              <a:defRPr sz="1100" b="1">
                <a:solidFill>
                  <a:srgbClr val="17365D"/>
                </a:solidFill>
                <a:latin typeface="Meiryo UI"/>
              </a:defRPr>
            </a:pPr>
            <a:r>
              <a:t>■ スケジュール管理 (4能力)</a:t>
            </a:r>
          </a:p>
          <a:p>
            <a:pPr>
              <a:spcAft>
                <a:spcPts val="600"/>
              </a:spcAft>
              <a:defRPr sz="950">
                <a:solidFill>
                  <a:srgbClr val="222222"/>
                </a:solidFill>
                <a:latin typeface="Meiryo UI"/>
              </a:defRPr>
            </a:pPr>
            <a:r>
              <a:t>計画立案力、優先順位付け能力、調整力、問題解決力</a:t>
            </a:r>
          </a:p>
          <a:p>
            <a:pPr>
              <a:spcAft>
                <a:spcPts val="100"/>
              </a:spcAft>
              <a:defRPr sz="1100" b="1">
                <a:solidFill>
                  <a:srgbClr val="17365D"/>
                </a:solidFill>
                <a:latin typeface="Meiryo UI"/>
              </a:defRPr>
            </a:pPr>
            <a:r>
              <a:t>■ コスト管理 (4能力)</a:t>
            </a:r>
          </a:p>
          <a:p>
            <a:pPr>
              <a:spcAft>
                <a:spcPts val="600"/>
              </a:spcAft>
              <a:defRPr sz="950">
                <a:solidFill>
                  <a:srgbClr val="222222"/>
                </a:solidFill>
                <a:latin typeface="Meiryo UI"/>
              </a:defRPr>
            </a:pPr>
            <a:r>
              <a:t>数値分析力、財務知識、予測力、意思決定力</a:t>
            </a:r>
          </a:p>
          <a:p>
            <a:pPr>
              <a:spcAft>
                <a:spcPts val="100"/>
              </a:spcAft>
              <a:defRPr sz="1100" b="1">
                <a:solidFill>
                  <a:srgbClr val="17365D"/>
                </a:solidFill>
                <a:latin typeface="Meiryo UI"/>
              </a:defRPr>
            </a:pPr>
            <a:r>
              <a:t>■ 調達・契約管理 (4能力)</a:t>
            </a:r>
          </a:p>
          <a:p>
            <a:pPr>
              <a:spcAft>
                <a:spcPts val="600"/>
              </a:spcAft>
              <a:defRPr sz="950">
                <a:solidFill>
                  <a:srgbClr val="222222"/>
                </a:solidFill>
                <a:latin typeface="Meiryo UI"/>
              </a:defRPr>
            </a:pPr>
            <a:r>
              <a:t>契約知識、交渉力、コスト感覚、リスク評価能力</a:t>
            </a:r>
          </a:p>
        </p:txBody>
      </p:sp>
      <p:sp>
        <p:nvSpPr>
          <p:cNvPr id="9" name="Rounded Rectangle 8"/>
          <p:cNvSpPr/>
          <p:nvPr/>
        </p:nvSpPr>
        <p:spPr>
          <a:xfrm>
            <a:off x="4379976" y="2011680"/>
            <a:ext cx="3429000" cy="411480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79976" y="2011680"/>
            <a:ext cx="3429000" cy="548640"/>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Phase 2: 実行・監視・統制フェーズ</a:t>
            </a:r>
          </a:p>
        </p:txBody>
      </p:sp>
      <p:sp>
        <p:nvSpPr>
          <p:cNvPr id="11" name="TextBox 10"/>
          <p:cNvSpPr txBox="1"/>
          <p:nvPr/>
        </p:nvSpPr>
        <p:spPr>
          <a:xfrm>
            <a:off x="4562856" y="2651760"/>
            <a:ext cx="3063240" cy="3383280"/>
          </a:xfrm>
          <a:prstGeom prst="rect">
            <a:avLst/>
          </a:prstGeom>
          <a:noFill/>
        </p:spPr>
        <p:txBody>
          <a:bodyPr wrap="square" lIns="0" rIns="0" tIns="0">
            <a:spAutoFit/>
          </a:bodyPr>
          <a:lstStyle/>
          <a:p>
            <a:pPr>
              <a:spcAft>
                <a:spcPts val="100"/>
              </a:spcAft>
              <a:defRPr sz="1100" b="1">
                <a:solidFill>
                  <a:srgbClr val="17365D"/>
                </a:solidFill>
                <a:latin typeface="Meiryo UI"/>
              </a:defRPr>
            </a:pPr>
            <a:r>
              <a:t>■ 品質管理 (4能力)</a:t>
            </a:r>
          </a:p>
          <a:p>
            <a:pPr>
              <a:spcAft>
                <a:spcPts val="600"/>
              </a:spcAft>
              <a:defRPr sz="950">
                <a:solidFill>
                  <a:srgbClr val="222222"/>
                </a:solidFill>
                <a:latin typeface="Meiryo UI"/>
              </a:defRPr>
            </a:pPr>
            <a:r>
              <a:t>品質意識、分析力、各種標準理解、再発防止力</a:t>
            </a:r>
          </a:p>
          <a:p>
            <a:pPr>
              <a:spcAft>
                <a:spcPts val="100"/>
              </a:spcAft>
              <a:defRPr sz="1100" b="1">
                <a:solidFill>
                  <a:srgbClr val="17365D"/>
                </a:solidFill>
                <a:latin typeface="Meiryo UI"/>
              </a:defRPr>
            </a:pPr>
            <a:r>
              <a:t>■ リソース管理 (4能力)</a:t>
            </a:r>
          </a:p>
          <a:p>
            <a:pPr>
              <a:spcAft>
                <a:spcPts val="600"/>
              </a:spcAft>
              <a:defRPr sz="950">
                <a:solidFill>
                  <a:srgbClr val="222222"/>
                </a:solidFill>
                <a:latin typeface="Meiryo UI"/>
              </a:defRPr>
            </a:pPr>
            <a:r>
              <a:t>人材マネジメント力、育成力、コーチング力、モチベーション管理力</a:t>
            </a:r>
          </a:p>
          <a:p>
            <a:pPr>
              <a:spcAft>
                <a:spcPts val="100"/>
              </a:spcAft>
              <a:defRPr sz="1100" b="1">
                <a:solidFill>
                  <a:srgbClr val="17365D"/>
                </a:solidFill>
                <a:latin typeface="Meiryo UI"/>
              </a:defRPr>
            </a:pPr>
            <a:r>
              <a:t>■ コミュニケーション管理 (4能力)</a:t>
            </a:r>
          </a:p>
          <a:p>
            <a:pPr>
              <a:spcAft>
                <a:spcPts val="600"/>
              </a:spcAft>
              <a:defRPr sz="950">
                <a:solidFill>
                  <a:srgbClr val="222222"/>
                </a:solidFill>
                <a:latin typeface="Meiryo UI"/>
              </a:defRPr>
            </a:pPr>
            <a:r>
              <a:t>プレゼンテーション力、文書作成力、傾聴力、説明力</a:t>
            </a:r>
          </a:p>
          <a:p>
            <a:pPr>
              <a:spcAft>
                <a:spcPts val="100"/>
              </a:spcAft>
              <a:defRPr sz="1100" b="1">
                <a:solidFill>
                  <a:srgbClr val="17365D"/>
                </a:solidFill>
                <a:latin typeface="Meiryo UI"/>
              </a:defRPr>
            </a:pPr>
            <a:r>
              <a:t>■ ステークホルダー管理 (4能力)</a:t>
            </a:r>
          </a:p>
          <a:p>
            <a:pPr>
              <a:spcAft>
                <a:spcPts val="600"/>
              </a:spcAft>
              <a:defRPr sz="950">
                <a:solidFill>
                  <a:srgbClr val="222222"/>
                </a:solidFill>
                <a:latin typeface="Meiryo UI"/>
              </a:defRPr>
            </a:pPr>
            <a:r>
              <a:t>交渉力、政治力、調整力、信頼関係構築力</a:t>
            </a:r>
          </a:p>
          <a:p>
            <a:pPr>
              <a:spcAft>
                <a:spcPts val="100"/>
              </a:spcAft>
              <a:defRPr sz="1100" b="1">
                <a:solidFill>
                  <a:srgbClr val="17365D"/>
                </a:solidFill>
                <a:latin typeface="Meiryo UI"/>
              </a:defRPr>
            </a:pPr>
            <a:r>
              <a:t>■ リスク管理 (4能力)</a:t>
            </a:r>
          </a:p>
          <a:p>
            <a:pPr>
              <a:spcAft>
                <a:spcPts val="600"/>
              </a:spcAft>
              <a:defRPr sz="950">
                <a:solidFill>
                  <a:srgbClr val="222222"/>
                </a:solidFill>
                <a:latin typeface="Meiryo UI"/>
              </a:defRPr>
            </a:pPr>
            <a:r>
              <a:t>先見性、分析力、危機管理能力、判断力</a:t>
            </a:r>
          </a:p>
          <a:p>
            <a:pPr>
              <a:spcAft>
                <a:spcPts val="100"/>
              </a:spcAft>
              <a:defRPr sz="1100" b="1">
                <a:solidFill>
                  <a:srgbClr val="17365D"/>
                </a:solidFill>
                <a:latin typeface="Meiryo UI"/>
              </a:defRPr>
            </a:pPr>
            <a:r>
              <a:t>■ 課題・変更管理 (4能力)</a:t>
            </a:r>
          </a:p>
          <a:p>
            <a:pPr>
              <a:spcAft>
                <a:spcPts val="600"/>
              </a:spcAft>
              <a:defRPr sz="950">
                <a:solidFill>
                  <a:srgbClr val="222222"/>
                </a:solidFill>
                <a:latin typeface="Meiryo UI"/>
              </a:defRPr>
            </a:pPr>
            <a:r>
              <a:t>問題解決力、調整力、影響分析力、意思決定支援力</a:t>
            </a:r>
          </a:p>
        </p:txBody>
      </p:sp>
      <p:sp>
        <p:nvSpPr>
          <p:cNvPr id="12" name="Rounded Rectangle 11"/>
          <p:cNvSpPr/>
          <p:nvPr/>
        </p:nvSpPr>
        <p:spPr>
          <a:xfrm>
            <a:off x="8028432" y="2011680"/>
            <a:ext cx="3429000" cy="411480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28432" y="2011680"/>
            <a:ext cx="3429000" cy="5486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Phase 3: 終結・知見活用</a:t>
            </a:r>
          </a:p>
        </p:txBody>
      </p:sp>
      <p:sp>
        <p:nvSpPr>
          <p:cNvPr id="14" name="TextBox 13"/>
          <p:cNvSpPr txBox="1"/>
          <p:nvPr/>
        </p:nvSpPr>
        <p:spPr>
          <a:xfrm>
            <a:off x="8211312" y="2651760"/>
            <a:ext cx="3063240" cy="3383280"/>
          </a:xfrm>
          <a:prstGeom prst="rect">
            <a:avLst/>
          </a:prstGeom>
          <a:noFill/>
        </p:spPr>
        <p:txBody>
          <a:bodyPr wrap="square" lIns="0" rIns="0" tIns="0">
            <a:spAutoFit/>
          </a:bodyPr>
          <a:lstStyle/>
          <a:p>
            <a:pPr>
              <a:spcAft>
                <a:spcPts val="100"/>
              </a:spcAft>
              <a:defRPr sz="1100" b="1">
                <a:solidFill>
                  <a:srgbClr val="17365D"/>
                </a:solidFill>
                <a:latin typeface="Meiryo UI"/>
              </a:defRPr>
            </a:pPr>
            <a:r>
              <a:t>■ 終結・振り返り (4能力)</a:t>
            </a:r>
          </a:p>
          <a:p>
            <a:pPr>
              <a:spcAft>
                <a:spcPts val="600"/>
              </a:spcAft>
              <a:defRPr sz="950">
                <a:solidFill>
                  <a:srgbClr val="222222"/>
                </a:solidFill>
                <a:latin typeface="Meiryo UI"/>
              </a:defRPr>
            </a:pPr>
            <a:r>
              <a:t>分析力、文書化能力、知識共有力、改善提案力</a:t>
            </a:r>
          </a:p>
          <a:p>
            <a:pPr>
              <a:spcAft>
                <a:spcPts val="100"/>
              </a:spcAft>
              <a:defRPr sz="1100" b="1">
                <a:solidFill>
                  <a:srgbClr val="17365D"/>
                </a:solidFill>
                <a:latin typeface="Meiryo UI"/>
              </a:defRPr>
            </a:pPr>
            <a:r>
              <a:t>■ 合計 (12カテゴリ / 49能力)</a:t>
            </a:r>
          </a:p>
          <a:p>
            <a:pPr>
              <a:spcAft>
                <a:spcPts val="600"/>
              </a:spcAft>
              <a:defRPr sz="950">
                <a:solidFill>
                  <a:srgbClr val="222222"/>
                </a:solidFill>
                <a:latin typeface="Meiryo UI"/>
              </a:defRPr>
            </a:pPr>
            <a:r>
              <a:t>すべての能力に対して『概要・詳細・OJT・座学・実践』の評価欄を完備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能力の定義（概要と詳細の分離による具体化）</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5 / 12</a:t>
            </a:r>
          </a:p>
        </p:txBody>
      </p:sp>
      <p:sp>
        <p:nvSpPr>
          <p:cNvPr id="5" name="TextBox 4"/>
          <p:cNvSpPr txBox="1"/>
          <p:nvPr/>
        </p:nvSpPr>
        <p:spPr>
          <a:xfrm>
            <a:off x="731520" y="1371600"/>
            <a:ext cx="10728655" cy="731520"/>
          </a:xfrm>
          <a:prstGeom prst="rect">
            <a:avLst/>
          </a:prstGeom>
          <a:noFill/>
        </p:spPr>
        <p:txBody>
          <a:bodyPr wrap="square" lIns="0" tIns="0">
            <a:spAutoFit/>
          </a:bodyPr>
          <a:lstStyle/>
          <a:p>
            <a:pPr>
              <a:defRPr sz="1100">
                <a:solidFill>
                  <a:srgbClr val="222222"/>
                </a:solidFill>
                <a:latin typeface="Meiryo UI"/>
              </a:defRPr>
            </a:pPr>
            <a:r>
              <a:t>能力名を挙げるだけでなく、「PMとして求められる本質的役割（概要）」と「現場で観察できる行動・成果物証跡（詳細）」を明確に区別して記載しています。</a:t>
            </a:r>
          </a:p>
        </p:txBody>
      </p:sp>
      <p:graphicFrame>
        <p:nvGraphicFramePr>
          <p:cNvPr id="6" name="Table 5"/>
          <p:cNvGraphicFramePr>
            <a:graphicFrameLocks noGrp="1"/>
          </p:cNvGraphicFramePr>
          <p:nvPr/>
        </p:nvGraphicFramePr>
        <p:xfrm>
          <a:off x="731520" y="2194560"/>
          <a:ext cx="10728655" cy="2926080"/>
        </p:xfrm>
        <a:graphic>
          <a:graphicData uri="http://schemas.openxmlformats.org/drawingml/2006/table">
            <a:tbl>
              <a:tblPr firstRow="1" bandRow="1">
                <a:tableStyleId>{5C22544A-7EE6-4342-B048-85BDC9FD1C3A}</a:tableStyleId>
              </a:tblPr>
              <a:tblGrid>
                <a:gridCol w="2011680"/>
                <a:gridCol w="3474720"/>
                <a:gridCol w="5242255"/>
              </a:tblGrid>
              <a:tr h="731520">
                <a:tc>
                  <a:txBody>
                    <a:bodyPr/>
                    <a:lstStyle/>
                    <a:p>
                      <a:pPr>
                        <a:defRPr sz="1100" b="1">
                          <a:solidFill>
                            <a:srgbClr val="FFFFFF"/>
                          </a:solidFill>
                          <a:latin typeface="Meiryo UI"/>
                        </a:defRPr>
                      </a:pPr>
                      <a:r>
                        <a:t>必要な能力</a:t>
                      </a:r>
                    </a:p>
                  </a:txBody>
                  <a:tcPr anchor="ctr">
                    <a:solidFill>
                      <a:srgbClr val="17365D"/>
                    </a:solidFill>
                  </a:tcPr>
                </a:tc>
                <a:tc>
                  <a:txBody>
                    <a:bodyPr/>
                    <a:lstStyle/>
                    <a:p>
                      <a:pPr>
                        <a:defRPr sz="1100" b="1">
                          <a:solidFill>
                            <a:srgbClr val="FFFFFF"/>
                          </a:solidFill>
                          <a:latin typeface="Meiryo UI"/>
                        </a:defRPr>
                      </a:pPr>
                      <a:r>
                        <a:t>PMに求められる能力の概要</a:t>
                      </a:r>
                    </a:p>
                  </a:txBody>
                  <a:tcPr anchor="ctr">
                    <a:solidFill>
                      <a:srgbClr val="17365D"/>
                    </a:solidFill>
                  </a:tcPr>
                </a:tc>
                <a:tc>
                  <a:txBody>
                    <a:bodyPr/>
                    <a:lstStyle/>
                    <a:p>
                      <a:pPr>
                        <a:defRPr sz="1100" b="1">
                          <a:solidFill>
                            <a:srgbClr val="FFFFFF"/>
                          </a:solidFill>
                          <a:latin typeface="Meiryo UI"/>
                        </a:defRPr>
                      </a:pPr>
                      <a:r>
                        <a:t>詳細（具体的行動・確認証跡）</a:t>
                      </a:r>
                    </a:p>
                  </a:txBody>
                  <a:tcPr anchor="ctr">
                    <a:solidFill>
                      <a:srgbClr val="17365D"/>
                    </a:solidFill>
                  </a:tcPr>
                </a:tc>
              </a:tr>
              <a:tr h="731520">
                <a:tc>
                  <a:txBody>
                    <a:bodyPr/>
                    <a:lstStyle/>
                    <a:p>
                      <a:pPr>
                        <a:defRPr sz="950">
                          <a:solidFill>
                            <a:srgbClr val="222222"/>
                          </a:solidFill>
                          <a:latin typeface="Meiryo UI"/>
                        </a:defRPr>
                      </a:pPr>
                      <a:r>
                        <a:t>ヒアリング力</a:t>
                      </a:r>
                      <a:br/>
                      <a:r>
                        <a:t>(要件管理)</a:t>
                      </a:r>
                    </a:p>
                  </a:txBody>
                  <a:tcPr anchor="ctr">
                    <a:solidFill>
                      <a:srgbClr val="FFFFFF"/>
                    </a:solidFill>
                  </a:tcPr>
                </a:tc>
                <a:tc>
                  <a:txBody>
                    <a:bodyPr/>
                    <a:lstStyle/>
                    <a:p>
                      <a:pPr>
                        <a:defRPr sz="950">
                          <a:solidFill>
                            <a:srgbClr val="222222"/>
                          </a:solidFill>
                          <a:latin typeface="Meiryo UI"/>
                        </a:defRPr>
                      </a:pPr>
                      <a:r>
                        <a:t>関係者の言葉から業務課題、期待成果、制約、優先度を引き出す力。</a:t>
                      </a:r>
                    </a:p>
                  </a:txBody>
                  <a:tcPr anchor="ctr">
                    <a:solidFill>
                      <a:srgbClr val="FFFFFF"/>
                    </a:solidFill>
                  </a:tcPr>
                </a:tc>
                <a:tc>
                  <a:txBody>
                    <a:bodyPr/>
                    <a:lstStyle/>
                    <a:p>
                      <a:pPr>
                        <a:defRPr sz="950">
                          <a:solidFill>
                            <a:srgbClr val="222222"/>
                          </a:solidFill>
                          <a:latin typeface="Meiryo UI"/>
                        </a:defRPr>
                      </a:pPr>
                      <a:r>
                        <a:t>質問を準備し事実・要望・推測を区別して聴く。背景や例外を深掘りし、要約確認で認識を合わせ未確認事項に担当・期限を付ける。</a:t>
                      </a:r>
                      <a:br/>
                      <a:r>
                        <a:t>【証跡】：追跡可能な要件・決定記録と未確認事項一覧</a:t>
                      </a:r>
                    </a:p>
                  </a:txBody>
                  <a:tcPr anchor="ctr">
                    <a:solidFill>
                      <a:srgbClr val="FFFFFF"/>
                    </a:solidFill>
                  </a:tcPr>
                </a:tc>
              </a:tr>
              <a:tr h="731520">
                <a:tc>
                  <a:txBody>
                    <a:bodyPr/>
                    <a:lstStyle/>
                    <a:p>
                      <a:pPr>
                        <a:defRPr sz="950">
                          <a:solidFill>
                            <a:srgbClr val="222222"/>
                          </a:solidFill>
                          <a:latin typeface="Meiryo UI"/>
                        </a:defRPr>
                      </a:pPr>
                      <a:r>
                        <a:t>ファシリテーション力</a:t>
                      </a:r>
                      <a:br/>
                      <a:r>
                        <a:t>(要件管理)</a:t>
                      </a:r>
                    </a:p>
                  </a:txBody>
                  <a:tcPr anchor="ctr">
                    <a:solidFill>
                      <a:srgbClr val="F5F7FA"/>
                    </a:solidFill>
                  </a:tcPr>
                </a:tc>
                <a:tc>
                  <a:txBody>
                    <a:bodyPr/>
                    <a:lstStyle/>
                    <a:p>
                      <a:pPr>
                        <a:defRPr sz="950">
                          <a:solidFill>
                            <a:srgbClr val="222222"/>
                          </a:solidFill>
                          <a:latin typeface="Meiryo UI"/>
                        </a:defRPr>
                      </a:pPr>
                      <a:r>
                        <a:t>関係者が論点に集中し、必要な決定・合意に至る場を設計・進行する力。</a:t>
                      </a:r>
                    </a:p>
                  </a:txBody>
                  <a:tcPr anchor="ctr">
                    <a:solidFill>
                      <a:srgbClr val="F5F7FA"/>
                    </a:solidFill>
                  </a:tcPr>
                </a:tc>
                <a:tc>
                  <a:txBody>
                    <a:bodyPr/>
                    <a:lstStyle/>
                    <a:p>
                      <a:pPr>
                        <a:defRPr sz="950">
                          <a:solidFill>
                            <a:srgbClr val="222222"/>
                          </a:solidFill>
                          <a:latin typeface="Meiryo UI"/>
                        </a:defRPr>
                      </a:pPr>
                      <a:r>
                        <a:t>会議目的・議題・決定者・時間配分を準備する。発言機会を整え、対立を論点と選択肢に整理し、決定・保留理由・担当・期限を記録する。</a:t>
                      </a:r>
                      <a:br/>
                      <a:r>
                        <a:t>【証跡】：会議招集通知、アジェンダ、合意決定事項を含む議事録</a:t>
                      </a:r>
                    </a:p>
                  </a:txBody>
                  <a:tcPr anchor="ctr">
                    <a:solidFill>
                      <a:srgbClr val="F5F7FA"/>
                    </a:solidFill>
                  </a:tcPr>
                </a:tc>
              </a:tr>
              <a:tr h="731520">
                <a:tc>
                  <a:txBody>
                    <a:bodyPr/>
                    <a:lstStyle/>
                    <a:p>
                      <a:pPr>
                        <a:defRPr sz="950">
                          <a:solidFill>
                            <a:srgbClr val="222222"/>
                          </a:solidFill>
                          <a:latin typeface="Meiryo UI"/>
                        </a:defRPr>
                      </a:pPr>
                      <a:r>
                        <a:t>計画立案力</a:t>
                      </a:r>
                      <a:br/>
                      <a:r>
                        <a:t>(スケジュール管理)</a:t>
                      </a:r>
                    </a:p>
                  </a:txBody>
                  <a:tcPr anchor="ctr">
                    <a:solidFill>
                      <a:srgbClr val="FFFFFF"/>
                    </a:solidFill>
                  </a:tcPr>
                </a:tc>
                <a:tc>
                  <a:txBody>
                    <a:bodyPr/>
                    <a:lstStyle/>
                    <a:p>
                      <a:pPr>
                        <a:defRPr sz="950">
                          <a:solidFill>
                            <a:srgbClr val="222222"/>
                          </a:solidFill>
                          <a:latin typeface="Meiryo UI"/>
                        </a:defRPr>
                      </a:pPr>
                      <a:r>
                        <a:t>目的・作業・依存関係・所要期間を結び、実行可能な計画を作る力。</a:t>
                      </a:r>
                    </a:p>
                  </a:txBody>
                  <a:tcPr anchor="ctr">
                    <a:solidFill>
                      <a:srgbClr val="FFFFFF"/>
                    </a:solidFill>
                  </a:tcPr>
                </a:tc>
                <a:tc>
                  <a:txBody>
                    <a:bodyPr/>
                    <a:lstStyle/>
                    <a:p>
                      <a:pPr>
                        <a:defRPr sz="950">
                          <a:solidFill>
                            <a:srgbClr val="222222"/>
                          </a:solidFill>
                          <a:latin typeface="Meiryo UI"/>
                        </a:defRPr>
                      </a:pPr>
                      <a:r>
                        <a:t>WBSを基に作業順序・見積根拠・担当・マイルストーン・依存先・バッファを設定。重要経路と外部制約を考慮し更新方法を合意する。</a:t>
                      </a:r>
                      <a:br/>
                      <a:r>
                        <a:t>【証跡】：マスタースケジュール、工程計画書、WBS定義書</a:t>
                      </a:r>
                    </a:p>
                  </a:txBody>
                  <a:tcPr anchor="ctr">
                    <a:solidFill>
                      <a:srgbClr val="FFFFFF"/>
                    </a:solidFill>
                  </a:tcPr>
                </a:tc>
              </a:tr>
            </a:tbl>
          </a:graphicData>
        </a:graphic>
      </p:graphicFrame>
      <p:sp>
        <p:nvSpPr>
          <p:cNvPr id="7" name="Rounded Rectangle 6"/>
          <p:cNvSpPr/>
          <p:nvPr/>
        </p:nvSpPr>
        <p:spPr>
          <a:xfrm>
            <a:off x="731520" y="5303520"/>
            <a:ext cx="10728655" cy="868680"/>
          </a:xfrm>
          <a:prstGeom prst="roundRect">
            <a:avLst/>
          </a:prstGeom>
          <a:solidFill>
            <a:srgbClr val="E2F0D9"/>
          </a:solidFill>
          <a:ln>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100" b="1">
                <a:solidFill>
                  <a:srgbClr val="145028"/>
                </a:solidFill>
                <a:latin typeface="Meiryo UI"/>
              </a:defRPr>
            </a:pPr>
            <a:r>
              <a:t>★ メリット： 抽象的な「ヒアリングができる」ではなく、「何を準備し、何を成果物として残せばよいか」が明確になり、育成対象者と指導者の間で目線が完全に一致します。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教育と評価の3本柱（座学・OJT・実践の分離）</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6 / 12</a:t>
            </a:r>
          </a:p>
        </p:txBody>
      </p:sp>
      <p:sp>
        <p:nvSpPr>
          <p:cNvPr id="5" name="Rectangle 4"/>
          <p:cNvSpPr/>
          <p:nvPr/>
        </p:nvSpPr>
        <p:spPr>
          <a:xfrm>
            <a:off x="731520" y="1371600"/>
            <a:ext cx="10728655" cy="731520"/>
          </a:xfrm>
          <a:prstGeom prst="rect">
            <a:avLst/>
          </a:prstGeom>
          <a:solidFill>
            <a:srgbClr val="D9EAF7"/>
          </a:solidFill>
          <a:ln>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100">
                <a:solidFill>
                  <a:srgbClr val="17365D"/>
                </a:solidFill>
                <a:latin typeface="Meiryo UI"/>
              </a:defRPr>
            </a:pPr>
            <a:r>
              <a:t>「必ずしもプロジェクト現場にOJT機会があるとは限らない」実態を踏まえ、教育手法と評価を3つの独立したレーンに分離して再設計しました。</a:t>
            </a:r>
          </a:p>
        </p:txBody>
      </p:sp>
      <p:sp>
        <p:nvSpPr>
          <p:cNvPr id="6" name="Rounded Rectangle 5"/>
          <p:cNvSpPr/>
          <p:nvPr/>
        </p:nvSpPr>
        <p:spPr>
          <a:xfrm>
            <a:off x="731520" y="2240280"/>
            <a:ext cx="3429000" cy="39319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240280"/>
            <a:ext cx="3429000" cy="731520"/>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 柱 ①：座学教育 】</a:t>
            </a:r>
          </a:p>
          <a:p>
            <a:pPr>
              <a:defRPr sz="950">
                <a:solidFill>
                  <a:srgbClr val="D9EAF7"/>
                </a:solidFill>
                <a:latin typeface="Meiryo UI"/>
              </a:defRPr>
            </a:pPr>
            <a:r>
              <a:t>知識インプット ＆ ケース演習</a:t>
            </a:r>
          </a:p>
        </p:txBody>
      </p:sp>
      <p:sp>
        <p:nvSpPr>
          <p:cNvPr id="8" name="TextBox 7"/>
          <p:cNvSpPr txBox="1"/>
          <p:nvPr/>
        </p:nvSpPr>
        <p:spPr>
          <a:xfrm>
            <a:off x="914400" y="3063240"/>
            <a:ext cx="3063240" cy="3017520"/>
          </a:xfrm>
          <a:prstGeom prst="rect">
            <a:avLst/>
          </a:prstGeom>
          <a:noFill/>
        </p:spPr>
        <p:txBody>
          <a:bodyPr wrap="square" lIns="0" rIns="0" tIns="0">
            <a:spAutoFit/>
          </a:bodyPr>
          <a:lstStyle/>
          <a:p>
            <a:pPr>
              <a:spcAft>
                <a:spcPts val="700"/>
              </a:spcAft>
              <a:defRPr sz="950">
                <a:solidFill>
                  <a:srgbClr val="222222"/>
                </a:solidFill>
                <a:latin typeface="Meiryo UI"/>
              </a:defRPr>
            </a:pPr>
            <a:r>
              <a:t>■ 特徴： 現場のフェーズに関係なくいつでも先行受講可能</a:t>
            </a:r>
          </a:p>
          <a:p>
            <a:pPr>
              <a:spcAft>
                <a:spcPts val="700"/>
              </a:spcAft>
              <a:defRPr sz="950">
                <a:solidFill>
                  <a:srgbClr val="222222"/>
                </a:solidFill>
                <a:latin typeface="Meiryo UI"/>
              </a:defRPr>
            </a:pPr>
            <a:r>
              <a:t>■ 内容： 講義、社内良例・不備事例の比較、シミュレーション課題</a:t>
            </a:r>
          </a:p>
          <a:p>
            <a:pPr>
              <a:spcAft>
                <a:spcPts val="700"/>
              </a:spcAft>
              <a:defRPr sz="950">
                <a:solidFill>
                  <a:srgbClr val="222222"/>
                </a:solidFill>
                <a:latin typeface="Meiryo UI"/>
              </a:defRPr>
            </a:pPr>
            <a:r>
              <a:t>■ 評価基準： 出席確認ではなく、理解度テスト・ケース課題</a:t>
            </a:r>
          </a:p>
          <a:p>
            <a:pPr>
              <a:spcAft>
                <a:spcPts val="700"/>
              </a:spcAft>
              <a:defRPr sz="950">
                <a:solidFill>
                  <a:srgbClr val="222222"/>
                </a:solidFill>
                <a:latin typeface="Meiryo UI"/>
              </a:defRPr>
            </a:pPr>
            <a:r>
              <a:t>■ 評価方法： 0〜100点の点数評価（80点以上を目安合格ライン）</a:t>
            </a:r>
          </a:p>
          <a:p>
            <a:pPr>
              <a:spcAft>
                <a:spcPts val="700"/>
              </a:spcAft>
              <a:defRPr sz="950">
                <a:solidFill>
                  <a:srgbClr val="222222"/>
                </a:solidFill>
                <a:latin typeface="Meiryo UI"/>
              </a:defRPr>
            </a:pPr>
            <a:r>
              <a:t>※ 座学合格だけでは「自走」とは判定しない</a:t>
            </a:r>
          </a:p>
        </p:txBody>
      </p:sp>
      <p:sp>
        <p:nvSpPr>
          <p:cNvPr id="9" name="Rounded Rectangle 8"/>
          <p:cNvSpPr/>
          <p:nvPr/>
        </p:nvSpPr>
        <p:spPr>
          <a:xfrm>
            <a:off x="4379976" y="2240280"/>
            <a:ext cx="3429000" cy="39319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79976" y="2240280"/>
            <a:ext cx="3429000" cy="731520"/>
          </a:xfrm>
          <a:prstGeom prst="round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 柱 ②：OJT教育 】</a:t>
            </a:r>
          </a:p>
          <a:p>
            <a:pPr>
              <a:defRPr sz="950">
                <a:solidFill>
                  <a:srgbClr val="D9EAF7"/>
                </a:solidFill>
                <a:latin typeface="Meiryo UI"/>
              </a:defRPr>
            </a:pPr>
            <a:r>
              <a:t>実務同行 ＆ 行動観察フィードバック</a:t>
            </a:r>
          </a:p>
        </p:txBody>
      </p:sp>
      <p:sp>
        <p:nvSpPr>
          <p:cNvPr id="11" name="TextBox 10"/>
          <p:cNvSpPr txBox="1"/>
          <p:nvPr/>
        </p:nvSpPr>
        <p:spPr>
          <a:xfrm>
            <a:off x="4562856" y="3063240"/>
            <a:ext cx="3063240" cy="3017520"/>
          </a:xfrm>
          <a:prstGeom prst="rect">
            <a:avLst/>
          </a:prstGeom>
          <a:noFill/>
        </p:spPr>
        <p:txBody>
          <a:bodyPr wrap="square" lIns="0" rIns="0" tIns="0">
            <a:spAutoFit/>
          </a:bodyPr>
          <a:lstStyle/>
          <a:p>
            <a:pPr>
              <a:spcAft>
                <a:spcPts val="700"/>
              </a:spcAft>
              <a:defRPr sz="950">
                <a:solidFill>
                  <a:srgbClr val="222222"/>
                </a:solidFill>
                <a:latin typeface="Meiryo UI"/>
              </a:defRPr>
            </a:pPr>
            <a:r>
              <a:t>■ 特徴： 経験者・指導員の案件現場での伴走指導</a:t>
            </a:r>
          </a:p>
          <a:p>
            <a:pPr>
              <a:spcAft>
                <a:spcPts val="700"/>
              </a:spcAft>
              <a:defRPr sz="950">
                <a:solidFill>
                  <a:srgbClr val="222222"/>
                </a:solidFill>
                <a:latin typeface="Meiryo UI"/>
              </a:defRPr>
            </a:pPr>
            <a:r>
              <a:t>■ 内容： 準備・同席・部分担当を通じて実務ノウハウを伝承</a:t>
            </a:r>
          </a:p>
          <a:p>
            <a:pPr>
              <a:spcAft>
                <a:spcPts val="700"/>
              </a:spcAft>
              <a:defRPr sz="950">
                <a:solidFill>
                  <a:srgbClr val="222222"/>
                </a:solidFill>
                <a:latin typeface="Meiryo UI"/>
              </a:defRPr>
            </a:pPr>
            <a:r>
              <a:t>■ 評価基準： 指導員が行動・判断根拠・成果物を直接観察</a:t>
            </a:r>
          </a:p>
          <a:p>
            <a:pPr>
              <a:spcAft>
                <a:spcPts val="700"/>
              </a:spcAft>
              <a:defRPr sz="950">
                <a:solidFill>
                  <a:srgbClr val="222222"/>
                </a:solidFill>
                <a:latin typeface="Meiryo UI"/>
              </a:defRPr>
            </a:pPr>
            <a:r>
              <a:t>■ 評価方法： 1〜5段階評価</a:t>
            </a:r>
          </a:p>
          <a:p>
            <a:pPr>
              <a:spcAft>
                <a:spcPts val="700"/>
              </a:spcAft>
              <a:defRPr sz="950">
                <a:solidFill>
                  <a:srgbClr val="222222"/>
                </a:solidFill>
                <a:latin typeface="Meiryo UI"/>
              </a:defRPr>
            </a:pPr>
            <a:r>
              <a:t>★ 重要ルール： 実務機会がない場合は「機会なし」とし未達扱いにしない</a:t>
            </a:r>
          </a:p>
        </p:txBody>
      </p:sp>
      <p:sp>
        <p:nvSpPr>
          <p:cNvPr id="12" name="Rounded Rectangle 11"/>
          <p:cNvSpPr/>
          <p:nvPr/>
        </p:nvSpPr>
        <p:spPr>
          <a:xfrm>
            <a:off x="8028432" y="2240280"/>
            <a:ext cx="3429000" cy="39319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28432" y="2240280"/>
            <a:ext cx="3429000" cy="73152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 柱 ③：実践評価 】</a:t>
            </a:r>
          </a:p>
          <a:p>
            <a:pPr>
              <a:defRPr sz="950">
                <a:solidFill>
                  <a:srgbClr val="D9EAF7"/>
                </a:solidFill>
                <a:latin typeface="Meiryo UI"/>
              </a:defRPr>
            </a:pPr>
            <a:r>
              <a:t>実案件の主担当 ＆ 自走度測定</a:t>
            </a:r>
          </a:p>
        </p:txBody>
      </p:sp>
      <p:sp>
        <p:nvSpPr>
          <p:cNvPr id="14" name="TextBox 13"/>
          <p:cNvSpPr txBox="1"/>
          <p:nvPr/>
        </p:nvSpPr>
        <p:spPr>
          <a:xfrm>
            <a:off x="8211312" y="3063240"/>
            <a:ext cx="3063240" cy="3017520"/>
          </a:xfrm>
          <a:prstGeom prst="rect">
            <a:avLst/>
          </a:prstGeom>
          <a:noFill/>
        </p:spPr>
        <p:txBody>
          <a:bodyPr wrap="square" lIns="0" rIns="0" tIns="0">
            <a:spAutoFit/>
          </a:bodyPr>
          <a:lstStyle/>
          <a:p>
            <a:pPr>
              <a:spcAft>
                <a:spcPts val="700"/>
              </a:spcAft>
              <a:defRPr sz="950">
                <a:solidFill>
                  <a:srgbClr val="222222"/>
                </a:solidFill>
                <a:latin typeface="Meiryo UI"/>
              </a:defRPr>
            </a:pPr>
            <a:r>
              <a:t>■ 特徴： 育成対象者が主担当として実案件を推進</a:t>
            </a:r>
          </a:p>
          <a:p>
            <a:pPr>
              <a:spcAft>
                <a:spcPts val="700"/>
              </a:spcAft>
              <a:defRPr sz="950">
                <a:solidFill>
                  <a:srgbClr val="222222"/>
                </a:solidFill>
                <a:latin typeface="Meiryo UI"/>
              </a:defRPr>
            </a:pPr>
            <a:r>
              <a:t>■ 定量評価： 計画更新期限遵守率100%、課題追跡率100% 等</a:t>
            </a:r>
          </a:p>
          <a:p>
            <a:pPr>
              <a:spcAft>
                <a:spcPts val="700"/>
              </a:spcAft>
              <a:defRPr sz="950">
                <a:solidFill>
                  <a:srgbClr val="222222"/>
                </a:solidFill>
                <a:latin typeface="Meiryo UI"/>
              </a:defRPr>
            </a:pPr>
            <a:r>
              <a:t>■ 定性評価： 共通ルーブリックに基づく1〜5段階評価</a:t>
            </a:r>
          </a:p>
          <a:p>
            <a:pPr>
              <a:spcAft>
                <a:spcPts val="700"/>
              </a:spcAft>
              <a:defRPr sz="950">
                <a:solidFill>
                  <a:srgbClr val="222222"/>
                </a:solidFill>
                <a:latin typeface="Meiryo UI"/>
              </a:defRPr>
            </a:pPr>
            <a:r>
              <a:t>■ 最終判定： 定量目標達成 ＋ 定性4以上（連続2回実証）</a:t>
            </a:r>
          </a:p>
          <a:p>
            <a:pPr>
              <a:spcAft>
                <a:spcPts val="700"/>
              </a:spcAft>
              <a:defRPr sz="950">
                <a:solidFill>
                  <a:srgbClr val="222222"/>
                </a:solidFill>
                <a:latin typeface="Meiryo UI"/>
              </a:defRPr>
            </a:pPr>
            <a:r>
              <a:t>★ 現場で一人立ちできる「自走型PM」のゴール基準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最終指標の定義（「自走できる状態」とは）</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7 / 12</a:t>
            </a:r>
          </a:p>
        </p:txBody>
      </p:sp>
      <p:sp>
        <p:nvSpPr>
          <p:cNvPr id="5" name="Rounded Rectangle 4"/>
          <p:cNvSpPr/>
          <p:nvPr/>
        </p:nvSpPr>
        <p:spPr>
          <a:xfrm>
            <a:off x="731520" y="1371600"/>
            <a:ext cx="10728655" cy="2743200"/>
          </a:xfrm>
          <a:prstGeom prst="roundRect">
            <a:avLst/>
          </a:prstGeom>
          <a:solidFill>
            <a:srgbClr val="FFFFFF"/>
          </a:solidFill>
          <a:ln w="317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28600"/>
          <a:lstStyle/>
          <a:p>
            <a:pPr algn="ctr">
              <a:spcAft>
                <a:spcPts val="800"/>
              </a:spcAft>
              <a:defRPr sz="1400" b="1">
                <a:solidFill>
                  <a:srgbClr val="27AE60"/>
                </a:solidFill>
                <a:latin typeface="Meiryo UI"/>
              </a:defRPr>
            </a:pPr>
            <a:r>
              <a:t>【 自走判定（一人立ち）の必須4要件 】</a:t>
            </a:r>
          </a:p>
          <a:p>
            <a:pPr>
              <a:spcAft>
                <a:spcPts val="600"/>
              </a:spcAft>
              <a:defRPr sz="1100">
                <a:solidFill>
                  <a:srgbClr val="222222"/>
                </a:solidFill>
                <a:latin typeface="Meiryo UI"/>
              </a:defRPr>
            </a:pPr>
            <a:r>
              <a:t>✔ 要件 ①： 実践定量目標の達成  ―  対象案件において合意した定量的KPI（例：計画更新遵守率100%、差異説明率100% 等）をクリアしていること</a:t>
            </a:r>
          </a:p>
          <a:p>
            <a:pPr>
              <a:spcAft>
                <a:spcPts val="600"/>
              </a:spcAft>
              <a:defRPr sz="1100">
                <a:solidFill>
                  <a:srgbClr val="222222"/>
                </a:solidFill>
                <a:latin typeface="Meiryo UI"/>
              </a:defRPr>
            </a:pPr>
            <a:r>
              <a:t>✔ 要件 ②： 実践定性レベル4（自立遂行）の獲得  ―  標準業務を単独で遂行でき、例外・不確実性発生時に適切なタイミングで相談・上申ができること</a:t>
            </a:r>
          </a:p>
          <a:p>
            <a:pPr>
              <a:spcAft>
                <a:spcPts val="600"/>
              </a:spcAft>
              <a:defRPr sz="1100">
                <a:solidFill>
                  <a:srgbClr val="222222"/>
                </a:solidFill>
                <a:latin typeface="Meiryo UI"/>
              </a:defRPr>
            </a:pPr>
            <a:r>
              <a:t>✔ 要件 ③： 再現性の確認（連続2回の実務機会）  ―  「たまたま一度成功した」ではなく、連続する2回の実務機会（別工程・別案件等）でレベル4以上を実証していること</a:t>
            </a:r>
          </a:p>
          <a:p>
            <a:pPr>
              <a:spcAft>
                <a:spcPts val="600"/>
              </a:spcAft>
              <a:defRPr sz="1100">
                <a:solidFill>
                  <a:srgbClr val="222222"/>
                </a:solidFill>
                <a:latin typeface="Meiryo UI"/>
              </a:defRPr>
            </a:pPr>
            <a:r>
              <a:t>✔ 要件 ④： 客観的証跡の確認完了  ―  成果物（計画書、WBS、議事録、課題票等）が整っており、評価者（指導員・マネージャー）が閲覧・確認していること</a:t>
            </a:r>
          </a:p>
        </p:txBody>
      </p:sp>
      <p:sp>
        <p:nvSpPr>
          <p:cNvPr id="6" name="Rounded Rectangle 5"/>
          <p:cNvSpPr/>
          <p:nvPr/>
        </p:nvSpPr>
        <p:spPr>
          <a:xfrm>
            <a:off x="731520" y="4343400"/>
            <a:ext cx="10728655" cy="1828800"/>
          </a:xfrm>
          <a:prstGeom prst="roundRect">
            <a:avLst/>
          </a:prstGeom>
          <a:solidFill>
            <a:srgbClr val="FDF2E9"/>
          </a:solidFill>
          <a:ln w="2540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28600"/>
          <a:lstStyle/>
          <a:p>
            <a:pPr algn="ctr">
              <a:spcAft>
                <a:spcPts val="600"/>
              </a:spcAft>
              <a:defRPr sz="1300" b="1">
                <a:solidFill>
                  <a:srgbClr val="D35400"/>
                </a:solidFill>
                <a:latin typeface="Meiryo UI"/>
              </a:defRPr>
            </a:pPr>
            <a:r>
              <a:t>⚠ 「何でも一人で抱え込むこと」は自走ではありません！</a:t>
            </a:r>
          </a:p>
          <a:p>
            <a:pPr>
              <a:defRPr sz="1150">
                <a:solidFill>
                  <a:srgbClr val="222222"/>
                </a:solidFill>
                <a:latin typeface="Meiryo UI"/>
              </a:defRPr>
            </a:pPr>
            <a:r>
              <a:t>PMとしての「自走」とは、自分の権限範囲を正しく理解し、</a:t>
            </a:r>
            <a:br/>
            <a:r>
              <a:t>『標準的な業務を自力で推進しながら、判断範囲を超える例外・重大リスクが生じた際に、選択肢と推奨案を持って適時に相談・上申できること』</a:t>
            </a:r>
            <a:br/>
            <a:r>
              <a:t>を指します。抱え込んで事態を悪化させることは自走未達（レベル2〜3）と判定されます。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評価方法と運用ルール（共通ルーブリック）</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8 / 12</a:t>
            </a:r>
          </a:p>
        </p:txBody>
      </p:sp>
      <p:graphicFrame>
        <p:nvGraphicFramePr>
          <p:cNvPr id="5" name="Table 4"/>
          <p:cNvGraphicFramePr>
            <a:graphicFrameLocks noGrp="1"/>
          </p:cNvGraphicFramePr>
          <p:nvPr/>
        </p:nvGraphicFramePr>
        <p:xfrm>
          <a:off x="731520" y="1371600"/>
          <a:ext cx="6766560" cy="4389120"/>
        </p:xfrm>
        <a:graphic>
          <a:graphicData uri="http://schemas.openxmlformats.org/drawingml/2006/table">
            <a:tbl>
              <a:tblPr firstRow="1" bandRow="1">
                <a:tableStyleId>{5C22544A-7EE6-4342-B048-85BDC9FD1C3A}</a:tableStyleId>
              </a:tblPr>
              <a:tblGrid>
                <a:gridCol w="914400"/>
                <a:gridCol w="1645920"/>
                <a:gridCol w="4206240"/>
              </a:tblGrid>
              <a:tr h="731520">
                <a:tc>
                  <a:txBody>
                    <a:bodyPr/>
                    <a:lstStyle/>
                    <a:p>
                      <a:pPr>
                        <a:defRPr sz="1050" b="1">
                          <a:solidFill>
                            <a:srgbClr val="FFFFFF"/>
                          </a:solidFill>
                          <a:latin typeface="Meiryo UI"/>
                        </a:defRPr>
                      </a:pPr>
                      <a:r>
                        <a:t>レベル</a:t>
                      </a:r>
                    </a:p>
                  </a:txBody>
                  <a:tcPr anchor="ctr">
                    <a:solidFill>
                      <a:srgbClr val="17365D"/>
                    </a:solidFill>
                  </a:tcPr>
                </a:tc>
                <a:tc>
                  <a:txBody>
                    <a:bodyPr/>
                    <a:lstStyle/>
                    <a:p>
                      <a:pPr>
                        <a:defRPr sz="1050" b="1">
                          <a:solidFill>
                            <a:srgbClr val="FFFFFF"/>
                          </a:solidFill>
                          <a:latin typeface="Meiryo UI"/>
                        </a:defRPr>
                      </a:pPr>
                      <a:r>
                        <a:t>定義</a:t>
                      </a:r>
                    </a:p>
                  </a:txBody>
                  <a:tcPr anchor="ctr">
                    <a:solidFill>
                      <a:srgbClr val="17365D"/>
                    </a:solidFill>
                  </a:tcPr>
                </a:tc>
                <a:tc>
                  <a:txBody>
                    <a:bodyPr/>
                    <a:lstStyle/>
                    <a:p>
                      <a:pPr>
                        <a:defRPr sz="1050" b="1">
                          <a:solidFill>
                            <a:srgbClr val="FFFFFF"/>
                          </a:solidFill>
                          <a:latin typeface="Meiryo UI"/>
                        </a:defRPr>
                      </a:pPr>
                      <a:r>
                        <a:t>状態の目安・行動観察基準</a:t>
                      </a:r>
                    </a:p>
                  </a:txBody>
                  <a:tcPr anchor="ctr">
                    <a:solidFill>
                      <a:srgbClr val="17365D"/>
                    </a:solidFill>
                  </a:tcPr>
                </a:tc>
              </a:tr>
              <a:tr h="731520">
                <a:tc>
                  <a:txBody>
                    <a:bodyPr/>
                    <a:lstStyle/>
                    <a:p>
                      <a:pPr>
                        <a:defRPr sz="950" b="0">
                          <a:solidFill>
                            <a:srgbClr val="222222"/>
                          </a:solidFill>
                          <a:latin typeface="Meiryo UI"/>
                        </a:defRPr>
                      </a:pPr>
                      <a:r>
                        <a:t>1</a:t>
                      </a:r>
                    </a:p>
                  </a:txBody>
                  <a:tcPr anchor="ctr">
                    <a:solidFill>
                      <a:srgbClr val="FFFFFF"/>
                    </a:solidFill>
                  </a:tcPr>
                </a:tc>
                <a:tc>
                  <a:txBody>
                    <a:bodyPr/>
                    <a:lstStyle/>
                    <a:p>
                      <a:pPr>
                        <a:defRPr sz="950" b="0">
                          <a:solidFill>
                            <a:srgbClr val="222222"/>
                          </a:solidFill>
                          <a:latin typeface="Meiryo UI"/>
                        </a:defRPr>
                      </a:pPr>
                      <a:r>
                        <a:t>未達</a:t>
                      </a:r>
                    </a:p>
                  </a:txBody>
                  <a:tcPr anchor="ctr">
                    <a:solidFill>
                      <a:srgbClr val="FFFFFF"/>
                    </a:solidFill>
                  </a:tcPr>
                </a:tc>
                <a:tc>
                  <a:txBody>
                    <a:bodyPr/>
                    <a:lstStyle/>
                    <a:p>
                      <a:pPr>
                        <a:defRPr sz="950" b="0">
                          <a:solidFill>
                            <a:srgbClr val="222222"/>
                          </a:solidFill>
                          <a:latin typeface="Meiryo UI"/>
                        </a:defRPr>
                      </a:pPr>
                      <a:r>
                        <a:t>指導者からの手厚い支援や指示があっても遂行が困難な状態</a:t>
                      </a:r>
                    </a:p>
                  </a:txBody>
                  <a:tcPr anchor="ctr">
                    <a:solidFill>
                      <a:srgbClr val="FFFFFF"/>
                    </a:solidFill>
                  </a:tcPr>
                </a:tc>
              </a:tr>
              <a:tr h="731520">
                <a:tc>
                  <a:txBody>
                    <a:bodyPr/>
                    <a:lstStyle/>
                    <a:p>
                      <a:pPr>
                        <a:defRPr sz="950" b="0">
                          <a:solidFill>
                            <a:srgbClr val="222222"/>
                          </a:solidFill>
                          <a:latin typeface="Meiryo UI"/>
                        </a:defRPr>
                      </a:pPr>
                      <a:r>
                        <a:t>2</a:t>
                      </a:r>
                    </a:p>
                  </a:txBody>
                  <a:tcPr anchor="ctr">
                    <a:solidFill>
                      <a:srgbClr val="F5F7FA"/>
                    </a:solidFill>
                  </a:tcPr>
                </a:tc>
                <a:tc>
                  <a:txBody>
                    <a:bodyPr/>
                    <a:lstStyle/>
                    <a:p>
                      <a:pPr>
                        <a:defRPr sz="950" b="0">
                          <a:solidFill>
                            <a:srgbClr val="222222"/>
                          </a:solidFill>
                          <a:latin typeface="Meiryo UI"/>
                        </a:defRPr>
                      </a:pPr>
                      <a:r>
                        <a:t>指示待ち・要支援</a:t>
                      </a:r>
                    </a:p>
                  </a:txBody>
                  <a:tcPr anchor="ctr">
                    <a:solidFill>
                      <a:srgbClr val="F5F7FA"/>
                    </a:solidFill>
                  </a:tcPr>
                </a:tc>
                <a:tc>
                  <a:txBody>
                    <a:bodyPr/>
                    <a:lstStyle/>
                    <a:p>
                      <a:pPr>
                        <a:defRPr sz="950" b="0">
                          <a:solidFill>
                            <a:srgbClr val="222222"/>
                          </a:solidFill>
                          <a:latin typeface="Meiryo UI"/>
                        </a:defRPr>
                      </a:pPr>
                      <a:r>
                        <a:t>標準的な手順書や、指導者からの頻繁な助言・確認があれば遂行できる状態</a:t>
                      </a:r>
                    </a:p>
                  </a:txBody>
                  <a:tcPr anchor="ctr">
                    <a:solidFill>
                      <a:srgbClr val="F5F7FA"/>
                    </a:solidFill>
                  </a:tcPr>
                </a:tc>
              </a:tr>
              <a:tr h="731520">
                <a:tc>
                  <a:txBody>
                    <a:bodyPr/>
                    <a:lstStyle/>
                    <a:p>
                      <a:pPr>
                        <a:defRPr sz="950" b="0">
                          <a:solidFill>
                            <a:srgbClr val="222222"/>
                          </a:solidFill>
                          <a:latin typeface="Meiryo UI"/>
                        </a:defRPr>
                      </a:pPr>
                      <a:r>
                        <a:t>3</a:t>
                      </a:r>
                    </a:p>
                  </a:txBody>
                  <a:tcPr anchor="ctr">
                    <a:solidFill>
                      <a:srgbClr val="FFFFFF"/>
                    </a:solidFill>
                  </a:tcPr>
                </a:tc>
                <a:tc>
                  <a:txBody>
                    <a:bodyPr/>
                    <a:lstStyle/>
                    <a:p>
                      <a:pPr>
                        <a:defRPr sz="950" b="0">
                          <a:solidFill>
                            <a:srgbClr val="222222"/>
                          </a:solidFill>
                          <a:latin typeface="Meiryo UI"/>
                        </a:defRPr>
                      </a:pPr>
                      <a:r>
                        <a:t>一部自立</a:t>
                      </a:r>
                    </a:p>
                  </a:txBody>
                  <a:tcPr anchor="ctr">
                    <a:solidFill>
                      <a:srgbClr val="FFFFFF"/>
                    </a:solidFill>
                  </a:tcPr>
                </a:tc>
                <a:tc>
                  <a:txBody>
                    <a:bodyPr/>
                    <a:lstStyle/>
                    <a:p>
                      <a:pPr>
                        <a:defRPr sz="950" b="0">
                          <a:solidFill>
                            <a:srgbClr val="222222"/>
                          </a:solidFill>
                          <a:latin typeface="Meiryo UI"/>
                        </a:defRPr>
                      </a:pPr>
                      <a:r>
                        <a:t>単独で遂行できるが、成果物に手戻りや修正指摘が発生する状態</a:t>
                      </a:r>
                    </a:p>
                  </a:txBody>
                  <a:tcPr anchor="ctr">
                    <a:solidFill>
                      <a:srgbClr val="FFFFFF"/>
                    </a:solidFill>
                  </a:tcPr>
                </a:tc>
              </a:tr>
              <a:tr h="731520">
                <a:tc>
                  <a:txBody>
                    <a:bodyPr/>
                    <a:lstStyle/>
                    <a:p>
                      <a:pPr>
                        <a:defRPr sz="950" b="1">
                          <a:solidFill>
                            <a:srgbClr val="27AE60"/>
                          </a:solidFill>
                          <a:latin typeface="Meiryo UI"/>
                        </a:defRPr>
                      </a:pPr>
                      <a:r>
                        <a:t>4</a:t>
                      </a:r>
                    </a:p>
                  </a:txBody>
                  <a:tcPr anchor="ctr">
                    <a:solidFill>
                      <a:srgbClr val="E2F0D9"/>
                    </a:solidFill>
                  </a:tcPr>
                </a:tc>
                <a:tc>
                  <a:txBody>
                    <a:bodyPr/>
                    <a:lstStyle/>
                    <a:p>
                      <a:pPr>
                        <a:defRPr sz="950" b="1">
                          <a:solidFill>
                            <a:srgbClr val="27AE60"/>
                          </a:solidFill>
                          <a:latin typeface="Meiryo UI"/>
                        </a:defRPr>
                      </a:pPr>
                      <a:r>
                        <a:t>自立遂行 (自走)</a:t>
                      </a:r>
                    </a:p>
                  </a:txBody>
                  <a:tcPr anchor="ctr">
                    <a:solidFill>
                      <a:srgbClr val="E2F0D9"/>
                    </a:solidFill>
                  </a:tcPr>
                </a:tc>
                <a:tc>
                  <a:txBody>
                    <a:bodyPr/>
                    <a:lstStyle/>
                    <a:p>
                      <a:pPr>
                        <a:defRPr sz="950" b="1">
                          <a:solidFill>
                            <a:srgbClr val="222222"/>
                          </a:solidFill>
                          <a:latin typeface="Meiryo UI"/>
                        </a:defRPr>
                      </a:pPr>
                      <a:r>
                        <a:t>標準業務を単独で遂行し、例外発生時に適時相談・上申ができる状態</a:t>
                      </a:r>
                    </a:p>
                  </a:txBody>
                  <a:tcPr anchor="ctr">
                    <a:solidFill>
                      <a:srgbClr val="E2F0D9"/>
                    </a:solidFill>
                  </a:tcPr>
                </a:tc>
              </a:tr>
              <a:tr h="731520">
                <a:tc>
                  <a:txBody>
                    <a:bodyPr/>
                    <a:lstStyle/>
                    <a:p>
                      <a:pPr>
                        <a:defRPr sz="950" b="0">
                          <a:solidFill>
                            <a:srgbClr val="222222"/>
                          </a:solidFill>
                          <a:latin typeface="Meiryo UI"/>
                        </a:defRPr>
                      </a:pPr>
                      <a:r>
                        <a:t>5</a:t>
                      </a:r>
                    </a:p>
                  </a:txBody>
                  <a:tcPr anchor="ctr">
                    <a:solidFill>
                      <a:srgbClr val="FFFFFF"/>
                    </a:solidFill>
                  </a:tcPr>
                </a:tc>
                <a:tc>
                  <a:txBody>
                    <a:bodyPr/>
                    <a:lstStyle/>
                    <a:p>
                      <a:pPr>
                        <a:defRPr sz="950" b="0">
                          <a:solidFill>
                            <a:srgbClr val="222222"/>
                          </a:solidFill>
                          <a:latin typeface="Meiryo UI"/>
                        </a:defRPr>
                      </a:pPr>
                      <a:r>
                        <a:t>改善・他者支援</a:t>
                      </a:r>
                    </a:p>
                  </a:txBody>
                  <a:tcPr anchor="ctr">
                    <a:solidFill>
                      <a:srgbClr val="FFFFFF"/>
                    </a:solidFill>
                  </a:tcPr>
                </a:tc>
                <a:tc>
                  <a:txBody>
                    <a:bodyPr/>
                    <a:lstStyle/>
                    <a:p>
                      <a:pPr>
                        <a:defRPr sz="950" b="0">
                          <a:solidFill>
                            <a:srgbClr val="222222"/>
                          </a:solidFill>
                          <a:latin typeface="Meiryo UI"/>
                        </a:defRPr>
                      </a:pPr>
                      <a:r>
                        <a:t>状況に応じたプロセス改善や、他メンバー・後輩への指導・支援ができる状態</a:t>
                      </a:r>
                    </a:p>
                  </a:txBody>
                  <a:tcPr anchor="ctr">
                    <a:solidFill>
                      <a:srgbClr val="FFFFFF"/>
                    </a:solidFill>
                  </a:tcPr>
                </a:tc>
              </a:tr>
            </a:tbl>
          </a:graphicData>
        </a:graphic>
      </p:graphicFrame>
      <p:sp>
        <p:nvSpPr>
          <p:cNvPr id="6" name="Rounded Rectangle 5"/>
          <p:cNvSpPr/>
          <p:nvPr/>
        </p:nvSpPr>
        <p:spPr>
          <a:xfrm>
            <a:off x="7772400" y="1371600"/>
            <a:ext cx="3657600" cy="43891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800"/>
              </a:spcAft>
              <a:defRPr sz="1200" b="1">
                <a:solidFill>
                  <a:srgbClr val="17365D"/>
                </a:solidFill>
                <a:latin typeface="Meiryo UI"/>
              </a:defRPr>
            </a:pPr>
            <a:r>
              <a:t>【 運用の重要ルール 】</a:t>
            </a:r>
          </a:p>
          <a:p>
            <a:pPr>
              <a:spcAft>
                <a:spcPts val="100"/>
              </a:spcAft>
              <a:defRPr sz="1000" b="1">
                <a:solidFill>
                  <a:srgbClr val="2B547E"/>
                </a:solidFill>
                <a:latin typeface="Meiryo UI"/>
              </a:defRPr>
            </a:pPr>
            <a:r>
              <a:t>① OJTの「機会なし」ルール</a:t>
            </a:r>
          </a:p>
          <a:p>
            <a:pPr>
              <a:spcAft>
                <a:spcPts val="600"/>
              </a:spcAft>
              <a:defRPr sz="900">
                <a:solidFill>
                  <a:srgbClr val="222222"/>
                </a:solidFill>
                <a:latin typeface="Meiryo UI"/>
              </a:defRPr>
            </a:pPr>
            <a:r>
              <a:t>案件特性上、実務機会がなかった項目は「機会なし」を選択。未達（レベル1）とは扱わず、次期計画に繰り越します。</a:t>
            </a:r>
          </a:p>
          <a:p>
            <a:pPr>
              <a:spcAft>
                <a:spcPts val="100"/>
              </a:spcAft>
              <a:defRPr sz="1000" b="1">
                <a:solidFill>
                  <a:srgbClr val="2B547E"/>
                </a:solidFill>
                <a:latin typeface="Meiryo UI"/>
              </a:defRPr>
            </a:pPr>
            <a:r>
              <a:t>② 入力規則による統制</a:t>
            </a:r>
          </a:p>
          <a:p>
            <a:pPr>
              <a:spcAft>
                <a:spcPts val="600"/>
              </a:spcAft>
              <a:defRPr sz="900">
                <a:solidFill>
                  <a:srgbClr val="222222"/>
                </a:solidFill>
                <a:latin typeface="Meiryo UI"/>
              </a:defRPr>
            </a:pPr>
            <a:r>
              <a:t>Excel上でも1〜5（OJTは機会なしを含む）以外の不正値が入らないようデータバリデーションを設定済み。</a:t>
            </a:r>
          </a:p>
          <a:p>
            <a:pPr>
              <a:spcAft>
                <a:spcPts val="100"/>
              </a:spcAft>
              <a:defRPr sz="1000" b="1">
                <a:solidFill>
                  <a:srgbClr val="2B547E"/>
                </a:solidFill>
                <a:latin typeface="Meiryo UI"/>
              </a:defRPr>
            </a:pPr>
            <a:r>
              <a:t>③ 証跡主義の徹底</a:t>
            </a:r>
          </a:p>
          <a:p>
            <a:pPr>
              <a:spcAft>
                <a:spcPts val="600"/>
              </a:spcAft>
              <a:defRPr sz="900">
                <a:solidFill>
                  <a:srgbClr val="222222"/>
                </a:solidFill>
                <a:latin typeface="Meiryo UI"/>
              </a:defRPr>
            </a:pPr>
            <a:r>
              <a:t>評価時は必ず「どの成果物・どの会議の記録を確認したか」を証跡欄に記入。印象評価を排除します。</a:t>
            </a:r>
          </a:p>
          <a:p>
            <a:pPr>
              <a:spcAft>
                <a:spcPts val="100"/>
              </a:spcAft>
              <a:defRPr sz="1000" b="1">
                <a:solidFill>
                  <a:srgbClr val="2B547E"/>
                </a:solidFill>
                <a:latin typeface="Meiryo UI"/>
              </a:defRPr>
            </a:pPr>
            <a:r>
              <a:t>④ 定量目標の事前合意</a:t>
            </a:r>
          </a:p>
          <a:p>
            <a:pPr>
              <a:spcAft>
                <a:spcPts val="600"/>
              </a:spcAft>
              <a:defRPr sz="900">
                <a:solidFill>
                  <a:srgbClr val="222222"/>
                </a:solidFill>
                <a:latin typeface="Meiryo UI"/>
              </a:defRPr>
            </a:pPr>
            <a:r>
              <a:t>定量目標は案件開始時に対象期間・分母とともに指導員と握り、実績を記録します。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2Q以降の育成運用サイクル（PDCA）</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9 / 12</a:t>
            </a:r>
          </a:p>
        </p:txBody>
      </p:sp>
      <p:sp>
        <p:nvSpPr>
          <p:cNvPr id="5" name="Rounded Rectangle 4"/>
          <p:cNvSpPr/>
          <p:nvPr/>
        </p:nvSpPr>
        <p:spPr>
          <a:xfrm>
            <a:off x="731520" y="1645920"/>
            <a:ext cx="3429000" cy="43891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429000" cy="822960"/>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STEP 1: 期初 (月初)</a:t>
            </a:r>
          </a:p>
          <a:p>
            <a:pPr>
              <a:defRPr sz="1000">
                <a:solidFill>
                  <a:srgbClr val="D9EAF7"/>
                </a:solidFill>
                <a:latin typeface="Meiryo UI"/>
              </a:defRPr>
            </a:pPr>
            <a:r>
              <a:t>現在地の確認 ＆ 目標設定</a:t>
            </a:r>
          </a:p>
        </p:txBody>
      </p:sp>
      <p:sp>
        <p:nvSpPr>
          <p:cNvPr id="7" name="TextBox 6"/>
          <p:cNvSpPr txBox="1"/>
          <p:nvPr/>
        </p:nvSpPr>
        <p:spPr>
          <a:xfrm>
            <a:off x="914400" y="2606040"/>
            <a:ext cx="3063240" cy="3291840"/>
          </a:xfrm>
          <a:prstGeom prst="rect">
            <a:avLst/>
          </a:prstGeom>
          <a:noFill/>
        </p:spPr>
        <p:txBody>
          <a:bodyPr wrap="square" lIns="0" rIns="0" tIns="0">
            <a:spAutoFit/>
          </a:bodyPr>
          <a:lstStyle/>
          <a:p>
            <a:pPr>
              <a:spcAft>
                <a:spcPts val="400"/>
              </a:spcAft>
              <a:defRPr sz="950">
                <a:solidFill>
                  <a:srgbClr val="222222"/>
                </a:solidFill>
                <a:latin typeface="Meiryo UI"/>
              </a:defRPr>
            </a:pPr>
            <a:r>
              <a:t>1. 現状アセスメント</a:t>
            </a:r>
          </a:p>
          <a:p>
            <a:pPr>
              <a:spcAft>
                <a:spcPts val="400"/>
              </a:spcAft>
              <a:defRPr sz="950">
                <a:solidFill>
                  <a:srgbClr val="222222"/>
                </a:solidFill>
                <a:latin typeface="Meiryo UI"/>
              </a:defRPr>
            </a:pPr>
            <a:r>
              <a:t>   - 本人自己評価と指導者評価を持ち寄り現在地を確認</a:t>
            </a:r>
          </a:p>
          <a:p>
            <a:pPr>
              <a:spcAft>
                <a:spcPts val="400"/>
              </a:spcAft>
              <a:defRPr sz="950">
                <a:solidFill>
                  <a:srgbClr val="222222"/>
                </a:solidFill>
                <a:latin typeface="Meiryo UI"/>
              </a:defRPr>
            </a:pPr>
            <a:r>
              <a:t>2. 「重点育成能力」の選定</a:t>
            </a:r>
          </a:p>
          <a:p>
            <a:pPr>
              <a:spcAft>
                <a:spcPts val="400"/>
              </a:spcAft>
              <a:defRPr sz="950">
                <a:solidFill>
                  <a:srgbClr val="222222"/>
                </a:solidFill>
                <a:latin typeface="Meiryo UI"/>
              </a:defRPr>
            </a:pPr>
            <a:r>
              <a:t>   - 49能力から今期伸ばす3〜5能力（2〜3カテゴリ）を選定</a:t>
            </a:r>
          </a:p>
          <a:p>
            <a:pPr>
              <a:spcAft>
                <a:spcPts val="400"/>
              </a:spcAft>
              <a:defRPr sz="950">
                <a:solidFill>
                  <a:srgbClr val="222222"/>
                </a:solidFill>
                <a:latin typeface="Meiryo UI"/>
              </a:defRPr>
            </a:pPr>
            <a:r>
              <a:t>3. 定量目標・証跡の事前合意</a:t>
            </a:r>
          </a:p>
          <a:p>
            <a:pPr>
              <a:spcAft>
                <a:spcPts val="400"/>
              </a:spcAft>
              <a:defRPr sz="950">
                <a:solidFill>
                  <a:srgbClr val="222222"/>
                </a:solidFill>
                <a:latin typeface="Meiryo UI"/>
              </a:defRPr>
            </a:pPr>
            <a:r>
              <a:t>   - 担当案件での目標値・成果物・評価時期を合意</a:t>
            </a:r>
          </a:p>
        </p:txBody>
      </p:sp>
      <p:sp>
        <p:nvSpPr>
          <p:cNvPr id="8" name="Rounded Rectangle 7"/>
          <p:cNvSpPr/>
          <p:nvPr/>
        </p:nvSpPr>
        <p:spPr>
          <a:xfrm>
            <a:off x="4379976" y="1645920"/>
            <a:ext cx="3429000" cy="43891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79976" y="1645920"/>
            <a:ext cx="3429000" cy="822960"/>
          </a:xfrm>
          <a:prstGeom prst="round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STEP 2: 期中 (月次)</a:t>
            </a:r>
          </a:p>
          <a:p>
            <a:pPr>
              <a:defRPr sz="1000">
                <a:solidFill>
                  <a:srgbClr val="D9EAF7"/>
                </a:solidFill>
                <a:latin typeface="Meiryo UI"/>
              </a:defRPr>
            </a:pPr>
            <a:r>
              <a:t>計画的インプット ＆ 実践</a:t>
            </a:r>
          </a:p>
        </p:txBody>
      </p:sp>
      <p:sp>
        <p:nvSpPr>
          <p:cNvPr id="10" name="TextBox 9"/>
          <p:cNvSpPr txBox="1"/>
          <p:nvPr/>
        </p:nvSpPr>
        <p:spPr>
          <a:xfrm>
            <a:off x="4562856" y="2606040"/>
            <a:ext cx="3063240" cy="3291840"/>
          </a:xfrm>
          <a:prstGeom prst="rect">
            <a:avLst/>
          </a:prstGeom>
          <a:noFill/>
        </p:spPr>
        <p:txBody>
          <a:bodyPr wrap="square" lIns="0" rIns="0" tIns="0">
            <a:spAutoFit/>
          </a:bodyPr>
          <a:lstStyle/>
          <a:p>
            <a:pPr>
              <a:spcAft>
                <a:spcPts val="400"/>
              </a:spcAft>
              <a:defRPr sz="950">
                <a:solidFill>
                  <a:srgbClr val="222222"/>
                </a:solidFill>
                <a:latin typeface="Meiryo UI"/>
              </a:defRPr>
            </a:pPr>
            <a:r>
              <a:t>1. 座学・ケース演習の受講</a:t>
            </a:r>
          </a:p>
          <a:p>
            <a:pPr>
              <a:spcAft>
                <a:spcPts val="400"/>
              </a:spcAft>
              <a:defRPr sz="950">
                <a:solidFill>
                  <a:srgbClr val="222222"/>
                </a:solidFill>
                <a:latin typeface="Meiryo UI"/>
              </a:defRPr>
            </a:pPr>
            <a:r>
              <a:t>   - 重点能力に対応する知識・演習を先行実施（80点合格）</a:t>
            </a:r>
          </a:p>
          <a:p>
            <a:pPr>
              <a:spcAft>
                <a:spcPts val="400"/>
              </a:spcAft>
              <a:defRPr sz="950">
                <a:solidFill>
                  <a:srgbClr val="222222"/>
                </a:solidFill>
                <a:latin typeface="Meiryo UI"/>
              </a:defRPr>
            </a:pPr>
            <a:r>
              <a:t>2. プロジェクトでのOJT・実務アサイン</a:t>
            </a:r>
          </a:p>
          <a:p>
            <a:pPr>
              <a:spcAft>
                <a:spcPts val="400"/>
              </a:spcAft>
              <a:defRPr sz="950">
                <a:solidFill>
                  <a:srgbClr val="222222"/>
                </a:solidFill>
                <a:latin typeface="Meiryo UI"/>
              </a:defRPr>
            </a:pPr>
            <a:r>
              <a:t>   - 指導員の同行・部分担当から徐々に主担当へ拡大</a:t>
            </a:r>
          </a:p>
          <a:p>
            <a:pPr>
              <a:spcAft>
                <a:spcPts val="400"/>
              </a:spcAft>
              <a:defRPr sz="950">
                <a:solidFill>
                  <a:srgbClr val="222222"/>
                </a:solidFill>
                <a:latin typeface="Meiryo UI"/>
              </a:defRPr>
            </a:pPr>
            <a:r>
              <a:t>3. 月次1on1による伴走確認</a:t>
            </a:r>
          </a:p>
          <a:p>
            <a:pPr>
              <a:spcAft>
                <a:spcPts val="400"/>
              </a:spcAft>
              <a:defRPr sz="950">
                <a:solidFill>
                  <a:srgbClr val="222222"/>
                </a:solidFill>
                <a:latin typeface="Meiryo UI"/>
              </a:defRPr>
            </a:pPr>
            <a:r>
              <a:t>   - 気づきの言語化、軌道修正、困りごとの解消</a:t>
            </a:r>
          </a:p>
        </p:txBody>
      </p:sp>
      <p:sp>
        <p:nvSpPr>
          <p:cNvPr id="11" name="Rounded Rectangle 10"/>
          <p:cNvSpPr/>
          <p:nvPr/>
        </p:nvSpPr>
        <p:spPr>
          <a:xfrm>
            <a:off x="8028432" y="1645920"/>
            <a:ext cx="3429000" cy="4389120"/>
          </a:xfrm>
          <a:prstGeom prst="roundRect">
            <a:avLst/>
          </a:prstGeom>
          <a:solidFill>
            <a:srgbClr val="FFFFFF"/>
          </a:solidFill>
          <a:ln w="1905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28432" y="1645920"/>
            <a:ext cx="3429000" cy="82296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00" b="1">
                <a:solidFill>
                  <a:srgbClr val="FFFFFF"/>
                </a:solidFill>
                <a:latin typeface="Meiryo UI"/>
              </a:defRPr>
            </a:pPr>
            <a:r>
              <a:t>STEP 3: 期末 (四半期末)</a:t>
            </a:r>
          </a:p>
          <a:p>
            <a:pPr>
              <a:defRPr sz="1000">
                <a:solidFill>
                  <a:srgbClr val="D9EAF7"/>
                </a:solidFill>
                <a:latin typeface="Meiryo UI"/>
              </a:defRPr>
            </a:pPr>
            <a:r>
              <a:t>成果物レビュー ＆ 自走判定</a:t>
            </a:r>
          </a:p>
        </p:txBody>
      </p:sp>
      <p:sp>
        <p:nvSpPr>
          <p:cNvPr id="13" name="TextBox 12"/>
          <p:cNvSpPr txBox="1"/>
          <p:nvPr/>
        </p:nvSpPr>
        <p:spPr>
          <a:xfrm>
            <a:off x="8211312" y="2606040"/>
            <a:ext cx="3063240" cy="3291840"/>
          </a:xfrm>
          <a:prstGeom prst="rect">
            <a:avLst/>
          </a:prstGeom>
          <a:noFill/>
        </p:spPr>
        <p:txBody>
          <a:bodyPr wrap="square" lIns="0" rIns="0" tIns="0">
            <a:spAutoFit/>
          </a:bodyPr>
          <a:lstStyle/>
          <a:p>
            <a:pPr>
              <a:spcAft>
                <a:spcPts val="400"/>
              </a:spcAft>
              <a:defRPr sz="950">
                <a:solidFill>
                  <a:srgbClr val="222222"/>
                </a:solidFill>
                <a:latin typeface="Meiryo UI"/>
              </a:defRPr>
            </a:pPr>
            <a:r>
              <a:t>1. 実績・証跡の持ち寄り確認</a:t>
            </a:r>
          </a:p>
          <a:p>
            <a:pPr>
              <a:spcAft>
                <a:spcPts val="400"/>
              </a:spcAft>
              <a:defRPr sz="950">
                <a:solidFill>
                  <a:srgbClr val="222222"/>
                </a:solidFill>
                <a:latin typeface="Meiryo UI"/>
              </a:defRPr>
            </a:pPr>
            <a:r>
              <a:t>   - 作成した成果物（WBS、課題票等）を前に振り返り</a:t>
            </a:r>
          </a:p>
          <a:p>
            <a:pPr>
              <a:spcAft>
                <a:spcPts val="400"/>
              </a:spcAft>
              <a:defRPr sz="950">
                <a:solidFill>
                  <a:srgbClr val="222222"/>
                </a:solidFill>
                <a:latin typeface="Meiryo UI"/>
              </a:defRPr>
            </a:pPr>
            <a:r>
              <a:t>2. 定量・定性評価の確定</a:t>
            </a:r>
          </a:p>
          <a:p>
            <a:pPr>
              <a:spcAft>
                <a:spcPts val="400"/>
              </a:spcAft>
              <a:defRPr sz="950">
                <a:solidFill>
                  <a:srgbClr val="222222"/>
                </a:solidFill>
                <a:latin typeface="Meiryo UI"/>
              </a:defRPr>
            </a:pPr>
            <a:r>
              <a:t>   - ルーブリックに沿ってレベル1〜5を判定・記録</a:t>
            </a:r>
          </a:p>
          <a:p>
            <a:pPr>
              <a:spcAft>
                <a:spcPts val="400"/>
              </a:spcAft>
              <a:defRPr sz="950">
                <a:solidFill>
                  <a:srgbClr val="222222"/>
                </a:solidFill>
                <a:latin typeface="Meiryo UI"/>
              </a:defRPr>
            </a:pPr>
            <a:r>
              <a:t>3. 自走判定 ＆ 次期計画へ反映</a:t>
            </a:r>
          </a:p>
          <a:p>
            <a:pPr>
              <a:spcAft>
                <a:spcPts val="400"/>
              </a:spcAft>
              <a:defRPr sz="950">
                <a:solidFill>
                  <a:srgbClr val="222222"/>
                </a:solidFill>
                <a:latin typeface="Meiryo UI"/>
              </a:defRPr>
            </a:pPr>
            <a:r>
              <a:t>   - 連続2回達成を確認し、次期の新たな重点能力へ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育成対象者・指導員への期待（パートナーシップ）</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10 / 12</a:t>
            </a:r>
          </a:p>
        </p:txBody>
      </p:sp>
      <p:sp>
        <p:nvSpPr>
          <p:cNvPr id="5" name="Rounded Rectangle 4"/>
          <p:cNvSpPr/>
          <p:nvPr/>
        </p:nvSpPr>
        <p:spPr>
          <a:xfrm>
            <a:off x="731520" y="1463040"/>
            <a:ext cx="5212080" cy="4572000"/>
          </a:xfrm>
          <a:prstGeom prst="roundRect">
            <a:avLst/>
          </a:prstGeom>
          <a:solidFill>
            <a:srgbClr val="FFFFFF"/>
          </a:solidFill>
          <a:ln w="254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731520"/>
          </a:xfrm>
          <a:prstGeom prst="round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300" b="1">
                <a:solidFill>
                  <a:srgbClr val="FFFFFF"/>
                </a:solidFill>
                <a:latin typeface="Meiryo UI"/>
              </a:defRPr>
            </a:pPr>
            <a:r>
              <a:t>👤 育成対象者（皆さん）へ期待すること</a:t>
            </a:r>
          </a:p>
        </p:txBody>
      </p:sp>
      <p:sp>
        <p:nvSpPr>
          <p:cNvPr id="7" name="TextBox 6"/>
          <p:cNvSpPr txBox="1"/>
          <p:nvPr/>
        </p:nvSpPr>
        <p:spPr>
          <a:xfrm>
            <a:off x="914400" y="2331720"/>
            <a:ext cx="4846320" cy="3566160"/>
          </a:xfrm>
          <a:prstGeom prst="rect">
            <a:avLst/>
          </a:prstGeom>
          <a:noFill/>
        </p:spPr>
        <p:txBody>
          <a:bodyPr wrap="square" lIns="0" rIns="0" tIns="0">
            <a:spAutoFit/>
          </a:bodyPr>
          <a:lstStyle/>
          <a:p>
            <a:pPr>
              <a:spcAft>
                <a:spcPts val="100"/>
              </a:spcAft>
              <a:defRPr sz="1050" b="1">
                <a:solidFill>
                  <a:srgbClr val="17365D"/>
                </a:solidFill>
                <a:latin typeface="Meiryo UI"/>
              </a:defRPr>
            </a:pPr>
            <a:r>
              <a:t>1. 指標を「自己成長の羅針盤」として使い倒す</a:t>
            </a:r>
          </a:p>
          <a:p>
            <a:pPr>
              <a:spcAft>
                <a:spcPts val="800"/>
              </a:spcAft>
              <a:defRPr sz="950">
                <a:solidFill>
                  <a:srgbClr val="222222"/>
                </a:solidFill>
                <a:latin typeface="Meiryo UI"/>
              </a:defRPr>
            </a:pPr>
            <a:r>
              <a:t>会社からのノルマではなく、自身のPMとしての市場価値・スキルを客観的に可視化するツールとして能動的に活用してください。</a:t>
            </a:r>
          </a:p>
          <a:p>
            <a:pPr>
              <a:spcAft>
                <a:spcPts val="100"/>
              </a:spcAft>
              <a:defRPr sz="1050" b="1">
                <a:solidFill>
                  <a:srgbClr val="17365D"/>
                </a:solidFill>
                <a:latin typeface="Meiryo UI"/>
              </a:defRPr>
            </a:pPr>
            <a:r>
              <a:t>2. 受け身を脱し、自ら実務機会を取りに行く</a:t>
            </a:r>
          </a:p>
          <a:p>
            <a:pPr>
              <a:spcAft>
                <a:spcPts val="800"/>
              </a:spcAft>
              <a:defRPr sz="950">
                <a:solidFill>
                  <a:srgbClr val="222222"/>
                </a:solidFill>
                <a:latin typeface="Meiryo UI"/>
              </a:defRPr>
            </a:pPr>
            <a:r>
              <a:t>「何をすればよいですか？」ではなく、「この能力の自走判定を目指すため、次回会議のファシリテーションを担当させてください」と発信しましょう。</a:t>
            </a:r>
          </a:p>
          <a:p>
            <a:pPr>
              <a:spcAft>
                <a:spcPts val="100"/>
              </a:spcAft>
              <a:defRPr sz="1050" b="1">
                <a:solidFill>
                  <a:srgbClr val="17365D"/>
                </a:solidFill>
                <a:latin typeface="Meiryo UI"/>
              </a:defRPr>
            </a:pPr>
            <a:r>
              <a:t>3. 日常業務から「証跡」にこだわる</a:t>
            </a:r>
          </a:p>
          <a:p>
            <a:pPr>
              <a:spcAft>
                <a:spcPts val="800"/>
              </a:spcAft>
              <a:defRPr sz="950">
                <a:solidFill>
                  <a:srgbClr val="222222"/>
                </a:solidFill>
                <a:latin typeface="Meiryo UI"/>
              </a:defRPr>
            </a:pPr>
            <a:r>
              <a:t>議事録、WBS、課題管理表などの成果物を単なる提出物ではなく、「自分の能力を証明する作品」として品質・根拠にこだわってください。</a:t>
            </a:r>
          </a:p>
          <a:p>
            <a:pPr>
              <a:spcAft>
                <a:spcPts val="100"/>
              </a:spcAft>
              <a:defRPr sz="1050" b="1">
                <a:solidFill>
                  <a:srgbClr val="17365D"/>
                </a:solidFill>
                <a:latin typeface="Meiryo UI"/>
              </a:defRPr>
            </a:pPr>
            <a:r>
              <a:t>4. 困ったら抱え込まず「選択肢を持って相談」</a:t>
            </a:r>
          </a:p>
          <a:p>
            <a:pPr>
              <a:spcAft>
                <a:spcPts val="800"/>
              </a:spcAft>
              <a:defRPr sz="950">
                <a:solidFill>
                  <a:srgbClr val="222222"/>
                </a:solidFill>
                <a:latin typeface="Meiryo UI"/>
              </a:defRPr>
            </a:pPr>
            <a:r>
              <a:t>わからないことや遅延の兆候は早期にアラートを上げ、自分なりの選択肢・推奨案を添えて指導者に相談しましょう。</a:t>
            </a:r>
          </a:p>
        </p:txBody>
      </p:sp>
      <p:sp>
        <p:nvSpPr>
          <p:cNvPr id="8" name="Rounded Rectangle 7"/>
          <p:cNvSpPr/>
          <p:nvPr/>
        </p:nvSpPr>
        <p:spPr>
          <a:xfrm>
            <a:off x="6248095" y="1463040"/>
            <a:ext cx="5212080" cy="4572000"/>
          </a:xfrm>
          <a:prstGeom prst="roundRect">
            <a:avLst/>
          </a:prstGeom>
          <a:solidFill>
            <a:srgbClr val="FFFFFF"/>
          </a:solidFill>
          <a:ln w="2540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48095" y="1463040"/>
            <a:ext cx="5212080" cy="731520"/>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300" b="1">
                <a:solidFill>
                  <a:srgbClr val="FFFFFF"/>
                </a:solidFill>
                <a:latin typeface="Meiryo UI"/>
              </a:defRPr>
            </a:pPr>
            <a:r>
              <a:t>🤝 指導員（メンター・PM）へ期待すること</a:t>
            </a:r>
          </a:p>
        </p:txBody>
      </p:sp>
      <p:sp>
        <p:nvSpPr>
          <p:cNvPr id="10" name="TextBox 9"/>
          <p:cNvSpPr txBox="1"/>
          <p:nvPr/>
        </p:nvSpPr>
        <p:spPr>
          <a:xfrm>
            <a:off x="6430975" y="2331720"/>
            <a:ext cx="4846320" cy="3566160"/>
          </a:xfrm>
          <a:prstGeom prst="rect">
            <a:avLst/>
          </a:prstGeom>
          <a:noFill/>
        </p:spPr>
        <p:txBody>
          <a:bodyPr wrap="square" lIns="0" rIns="0" tIns="0">
            <a:spAutoFit/>
          </a:bodyPr>
          <a:lstStyle/>
          <a:p>
            <a:pPr>
              <a:spcAft>
                <a:spcPts val="100"/>
              </a:spcAft>
              <a:defRPr sz="1050" b="1">
                <a:solidFill>
                  <a:srgbClr val="17365D"/>
                </a:solidFill>
                <a:latin typeface="Meiryo UI"/>
              </a:defRPr>
            </a:pPr>
            <a:r>
              <a:t>1. 指標の言葉を使って客観的にフィードバック</a:t>
            </a:r>
          </a:p>
          <a:p>
            <a:pPr>
              <a:spcAft>
                <a:spcPts val="800"/>
              </a:spcAft>
              <a:defRPr sz="950">
                <a:solidFill>
                  <a:srgbClr val="222222"/>
                </a:solidFill>
                <a:latin typeface="Meiryo UI"/>
              </a:defRPr>
            </a:pPr>
            <a:r>
              <a:t>「なんとなく良かった」「もっと頑張ろう」ではなく、「詳細のこの行動が取れていた」「次はここの証跡を残そう」と具体的に伝えてください。</a:t>
            </a:r>
          </a:p>
          <a:p>
            <a:pPr>
              <a:spcAft>
                <a:spcPts val="100"/>
              </a:spcAft>
              <a:defRPr sz="1050" b="1">
                <a:solidFill>
                  <a:srgbClr val="17365D"/>
                </a:solidFill>
                <a:latin typeface="Meiryo UI"/>
              </a:defRPr>
            </a:pPr>
            <a:r>
              <a:t>2. 挑戦できる実務機会を意図的に創出する</a:t>
            </a:r>
          </a:p>
          <a:p>
            <a:pPr>
              <a:spcAft>
                <a:spcPts val="800"/>
              </a:spcAft>
              <a:defRPr sz="950">
                <a:solidFill>
                  <a:srgbClr val="222222"/>
                </a:solidFill>
                <a:latin typeface="Meiryo UI"/>
              </a:defRPr>
            </a:pPr>
            <a:r>
              <a:t>任せられる作業から段階的に権限を委譲し、本人の重点能力に応じた業務（見積比較、会議進行、リカバリー案作成等）を割り当ててください。</a:t>
            </a:r>
          </a:p>
          <a:p>
            <a:pPr>
              <a:spcAft>
                <a:spcPts val="100"/>
              </a:spcAft>
              <a:defRPr sz="1050" b="1">
                <a:solidFill>
                  <a:srgbClr val="17365D"/>
                </a:solidFill>
                <a:latin typeface="Meiryo UI"/>
              </a:defRPr>
            </a:pPr>
            <a:r>
              <a:t>3. 失敗を許容し、早期アラートを歓迎する</a:t>
            </a:r>
          </a:p>
          <a:p>
            <a:pPr>
              <a:spcAft>
                <a:spcPts val="800"/>
              </a:spcAft>
              <a:defRPr sz="950">
                <a:solidFill>
                  <a:srgbClr val="222222"/>
                </a:solidFill>
                <a:latin typeface="Meiryo UI"/>
              </a:defRPr>
            </a:pPr>
            <a:r>
              <a:t>「早く相談してくれて助かった」という文化を作り、心理的安全性を担保しながら自走に必要な上申力を養ってください。</a:t>
            </a:r>
          </a:p>
          <a:p>
            <a:pPr>
              <a:spcAft>
                <a:spcPts val="100"/>
              </a:spcAft>
              <a:defRPr sz="1050" b="1">
                <a:solidFill>
                  <a:srgbClr val="17365D"/>
                </a:solidFill>
                <a:latin typeface="Meiryo UI"/>
              </a:defRPr>
            </a:pPr>
            <a:r>
              <a:t>4. 成果物に基づく公正な事実評価</a:t>
            </a:r>
          </a:p>
          <a:p>
            <a:pPr>
              <a:spcAft>
                <a:spcPts val="800"/>
              </a:spcAft>
              <a:defRPr sz="950">
                <a:solidFill>
                  <a:srgbClr val="222222"/>
                </a:solidFill>
                <a:latin typeface="Meiryo UI"/>
              </a:defRPr>
            </a:pPr>
            <a:r>
              <a:t>属人的な印象ではなく、作成された成果物や議事録をエビデンスとして評価し、納得感のある自走判定を行ってください。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200" b="1">
                <a:solidFill>
                  <a:srgbClr val="2B547E"/>
                </a:solidFill>
                <a:latin typeface="Meiryo UI"/>
              </a:defRPr>
            </a:pPr>
            <a:r>
              <a:t>2026年度 2Q以降 PM育成方針</a:t>
            </a:r>
          </a:p>
          <a:p>
            <a:pPr>
              <a:defRPr sz="2200" b="1">
                <a:solidFill>
                  <a:srgbClr val="17365D"/>
                </a:solidFill>
                <a:latin typeface="Meiryo UI"/>
              </a:defRPr>
            </a:pPr>
            <a:r>
              <a:t>2Qの推進スケジュール（ロードマップ）</a:t>
            </a:r>
          </a:p>
        </p:txBody>
      </p:sp>
      <p:sp>
        <p:nvSpPr>
          <p:cNvPr id="3" name="Rectangle 2"/>
          <p:cNvSpPr/>
          <p:nvPr/>
        </p:nvSpPr>
        <p:spPr>
          <a:xfrm>
            <a:off x="731520" y="6400800"/>
            <a:ext cx="10728655" cy="18288"/>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6464"/>
                </a:solidFill>
                <a:latin typeface="Meiryo UI"/>
              </a:defRPr>
            </a:pPr>
            <a:r>
              <a:t>PM組織開発ハンドブック | PM育成方針 説明資料  ―  11 / 12</a:t>
            </a:r>
          </a:p>
        </p:txBody>
      </p:sp>
      <p:graphicFrame>
        <p:nvGraphicFramePr>
          <p:cNvPr id="5" name="Table 4"/>
          <p:cNvGraphicFramePr>
            <a:graphicFrameLocks noGrp="1"/>
          </p:cNvGraphicFramePr>
          <p:nvPr/>
        </p:nvGraphicFramePr>
        <p:xfrm>
          <a:off x="731520" y="1463040"/>
          <a:ext cx="10728655" cy="4389120"/>
        </p:xfrm>
        <a:graphic>
          <a:graphicData uri="http://schemas.openxmlformats.org/drawingml/2006/table">
            <a:tbl>
              <a:tblPr firstRow="1" bandRow="1">
                <a:tableStyleId>{5C22544A-7EE6-4342-B048-85BDC9FD1C3A}</a:tableStyleId>
              </a:tblPr>
              <a:tblGrid>
                <a:gridCol w="2011680"/>
                <a:gridCol w="2926080"/>
                <a:gridCol w="4144975"/>
                <a:gridCol w="1645920"/>
              </a:tblGrid>
              <a:tr h="627017">
                <a:tc>
                  <a:txBody>
                    <a:bodyPr/>
                    <a:lstStyle/>
                    <a:p>
                      <a:pPr>
                        <a:defRPr sz="1050" b="1">
                          <a:solidFill>
                            <a:srgbClr val="FFFFFF"/>
                          </a:solidFill>
                          <a:latin typeface="Meiryo UI"/>
                        </a:defRPr>
                      </a:pPr>
                      <a:r>
                        <a:t>時期</a:t>
                      </a:r>
                    </a:p>
                  </a:txBody>
                  <a:tcPr anchor="ctr">
                    <a:solidFill>
                      <a:srgbClr val="17365D"/>
                    </a:solidFill>
                  </a:tcPr>
                </a:tc>
                <a:tc>
                  <a:txBody>
                    <a:bodyPr/>
                    <a:lstStyle/>
                    <a:p>
                      <a:pPr>
                        <a:defRPr sz="1050" b="1">
                          <a:solidFill>
                            <a:srgbClr val="FFFFFF"/>
                          </a:solidFill>
                          <a:latin typeface="Meiryo UI"/>
                        </a:defRPr>
                      </a:pPr>
                      <a:r>
                        <a:t>イベント / マイルストーン</a:t>
                      </a:r>
                    </a:p>
                  </a:txBody>
                  <a:tcPr anchor="ctr">
                    <a:solidFill>
                      <a:srgbClr val="17365D"/>
                    </a:solidFill>
                  </a:tcPr>
                </a:tc>
                <a:tc>
                  <a:txBody>
                    <a:bodyPr/>
                    <a:lstStyle/>
                    <a:p>
                      <a:pPr>
                        <a:defRPr sz="1050" b="1">
                          <a:solidFill>
                            <a:srgbClr val="FFFFFF"/>
                          </a:solidFill>
                          <a:latin typeface="Meiryo UI"/>
                        </a:defRPr>
                      </a:pPr>
                      <a:r>
                        <a:t>主な活動内容・タスク</a:t>
                      </a:r>
                    </a:p>
                  </a:txBody>
                  <a:tcPr anchor="ctr">
                    <a:solidFill>
                      <a:srgbClr val="17365D"/>
                    </a:solidFill>
                  </a:tcPr>
                </a:tc>
                <a:tc>
                  <a:txBody>
                    <a:bodyPr/>
                    <a:lstStyle/>
                    <a:p>
                      <a:pPr>
                        <a:defRPr sz="1050" b="1">
                          <a:solidFill>
                            <a:srgbClr val="FFFFFF"/>
                          </a:solidFill>
                          <a:latin typeface="Meiryo UI"/>
                        </a:defRPr>
                      </a:pPr>
                      <a:r>
                        <a:t>実施主体</a:t>
                      </a:r>
                    </a:p>
                  </a:txBody>
                  <a:tcPr anchor="ctr">
                    <a:solidFill>
                      <a:srgbClr val="17365D"/>
                    </a:solidFill>
                  </a:tcPr>
                </a:tc>
              </a:tr>
              <a:tr h="627017">
                <a:tc>
                  <a:txBody>
                    <a:bodyPr/>
                    <a:lstStyle/>
                    <a:p>
                      <a:pPr>
                        <a:defRPr sz="950">
                          <a:solidFill>
                            <a:srgbClr val="222222"/>
                          </a:solidFill>
                          <a:latin typeface="Meiryo UI"/>
                        </a:defRPr>
                      </a:pPr>
                      <a:r>
                        <a:t>10月中旬 (本日〜)</a:t>
                      </a:r>
                    </a:p>
                  </a:txBody>
                  <a:tcPr anchor="ctr">
                    <a:solidFill>
                      <a:srgbClr val="FFFFFF"/>
                    </a:solidFill>
                  </a:tcPr>
                </a:tc>
                <a:tc>
                  <a:txBody>
                    <a:bodyPr/>
                    <a:lstStyle/>
                    <a:p>
                      <a:pPr>
                        <a:defRPr sz="950">
                          <a:solidFill>
                            <a:srgbClr val="222222"/>
                          </a:solidFill>
                          <a:latin typeface="Meiryo UI"/>
                        </a:defRPr>
                      </a:pPr>
                      <a:r>
                        <a:t>PM育成方針説明会</a:t>
                      </a:r>
                      <a:br/>
                      <a:r>
                        <a:t>「PM_指標.xlsx」配布</a:t>
                      </a:r>
                    </a:p>
                  </a:txBody>
                  <a:tcPr anchor="ctr">
                    <a:solidFill>
                      <a:srgbClr val="FFFFFF"/>
                    </a:solidFill>
                  </a:tcPr>
                </a:tc>
                <a:tc>
                  <a:txBody>
                    <a:bodyPr/>
                    <a:lstStyle/>
                    <a:p>
                      <a:pPr>
                        <a:defRPr sz="950">
                          <a:solidFill>
                            <a:srgbClr val="222222"/>
                          </a:solidFill>
                          <a:latin typeface="Meiryo UI"/>
                        </a:defRPr>
                      </a:pPr>
                      <a:r>
                        <a:t>・本方針の説明と新指標シートの共有</a:t>
                      </a:r>
                      <a:br/>
                      <a:r>
                        <a:t>・各自シートの確認と自己学習の準備</a:t>
                      </a:r>
                    </a:p>
                  </a:txBody>
                  <a:tcPr anchor="ctr">
                    <a:solidFill>
                      <a:srgbClr val="FFFFFF"/>
                    </a:solidFill>
                  </a:tcPr>
                </a:tc>
                <a:tc>
                  <a:txBody>
                    <a:bodyPr/>
                    <a:lstStyle/>
                    <a:p>
                      <a:pPr>
                        <a:defRPr sz="950">
                          <a:solidFill>
                            <a:srgbClr val="222222"/>
                          </a:solidFill>
                          <a:latin typeface="Meiryo UI"/>
                        </a:defRPr>
                      </a:pPr>
                      <a:r>
                        <a:t>全員</a:t>
                      </a:r>
                    </a:p>
                  </a:txBody>
                  <a:tcPr anchor="ctr">
                    <a:solidFill>
                      <a:srgbClr val="FFFFFF"/>
                    </a:solidFill>
                  </a:tcPr>
                </a:tc>
              </a:tr>
              <a:tr h="627017">
                <a:tc>
                  <a:txBody>
                    <a:bodyPr/>
                    <a:lstStyle/>
                    <a:p>
                      <a:pPr>
                        <a:defRPr sz="950">
                          <a:solidFill>
                            <a:srgbClr val="222222"/>
                          </a:solidFill>
                          <a:latin typeface="Meiryo UI"/>
                        </a:defRPr>
                      </a:pPr>
                      <a:r>
                        <a:t>10月下旬</a:t>
                      </a:r>
                    </a:p>
                  </a:txBody>
                  <a:tcPr anchor="ctr">
                    <a:solidFill>
                      <a:srgbClr val="F5F7FA"/>
                    </a:solidFill>
                  </a:tcPr>
                </a:tc>
                <a:tc>
                  <a:txBody>
                    <a:bodyPr/>
                    <a:lstStyle/>
                    <a:p>
                      <a:pPr>
                        <a:defRPr sz="950">
                          <a:solidFill>
                            <a:srgbClr val="222222"/>
                          </a:solidFill>
                          <a:latin typeface="Meiryo UI"/>
                        </a:defRPr>
                      </a:pPr>
                      <a:r>
                        <a:t>初回自己評価 ＆</a:t>
                      </a:r>
                      <a:br/>
                      <a:r>
                        <a:t>キックオフ1on1</a:t>
                      </a:r>
                    </a:p>
                  </a:txBody>
                  <a:tcPr anchor="ctr">
                    <a:solidFill>
                      <a:srgbClr val="F5F7FA"/>
                    </a:solidFill>
                  </a:tcPr>
                </a:tc>
                <a:tc>
                  <a:txBody>
                    <a:bodyPr/>
                    <a:lstStyle/>
                    <a:p>
                      <a:pPr>
                        <a:defRPr sz="950">
                          <a:solidFill>
                            <a:srgbClr val="222222"/>
                          </a:solidFill>
                          <a:latin typeface="Meiryo UI"/>
                        </a:defRPr>
                      </a:pPr>
                      <a:r>
                        <a:t>・全49能力の初回セルフアセスメント実施</a:t>
                      </a:r>
                      <a:br/>
                      <a:r>
                        <a:t>・指導員と面談し、2Q重点育成能力（3〜5個）を合意決定</a:t>
                      </a:r>
                    </a:p>
                  </a:txBody>
                  <a:tcPr anchor="ctr">
                    <a:solidFill>
                      <a:srgbClr val="F5F7FA"/>
                    </a:solidFill>
                  </a:tcPr>
                </a:tc>
                <a:tc>
                  <a:txBody>
                    <a:bodyPr/>
                    <a:lstStyle/>
                    <a:p>
                      <a:pPr>
                        <a:defRPr sz="950">
                          <a:solidFill>
                            <a:srgbClr val="222222"/>
                          </a:solidFill>
                          <a:latin typeface="Meiryo UI"/>
                        </a:defRPr>
                      </a:pPr>
                      <a:r>
                        <a:t>対象者</a:t>
                      </a:r>
                      <a:br/>
                      <a:r>
                        <a:t>指導員</a:t>
                      </a:r>
                    </a:p>
                  </a:txBody>
                  <a:tcPr anchor="ctr">
                    <a:solidFill>
                      <a:srgbClr val="F5F7FA"/>
                    </a:solidFill>
                  </a:tcPr>
                </a:tc>
              </a:tr>
              <a:tr h="627017">
                <a:tc>
                  <a:txBody>
                    <a:bodyPr/>
                    <a:lstStyle/>
                    <a:p>
                      <a:pPr>
                        <a:defRPr sz="950">
                          <a:solidFill>
                            <a:srgbClr val="222222"/>
                          </a:solidFill>
                          <a:latin typeface="Meiryo UI"/>
                        </a:defRPr>
                      </a:pPr>
                      <a:r>
                        <a:t>11月上旬〜</a:t>
                      </a:r>
                    </a:p>
                  </a:txBody>
                  <a:tcPr anchor="ctr">
                    <a:solidFill>
                      <a:srgbClr val="FFFFFF"/>
                    </a:solidFill>
                  </a:tcPr>
                </a:tc>
                <a:tc>
                  <a:txBody>
                    <a:bodyPr/>
                    <a:lstStyle/>
                    <a:p>
                      <a:pPr>
                        <a:defRPr sz="950">
                          <a:solidFill>
                            <a:srgbClr val="222222"/>
                          </a:solidFill>
                          <a:latin typeface="Meiryo UI"/>
                        </a:defRPr>
                      </a:pPr>
                      <a:r>
                        <a:t>重点能力の座学受講 ＆</a:t>
                      </a:r>
                      <a:br/>
                      <a:r>
                        <a:t>プロジェクトOJT開始</a:t>
                      </a:r>
                    </a:p>
                  </a:txBody>
                  <a:tcPr anchor="ctr">
                    <a:solidFill>
                      <a:srgbClr val="FFFFFF"/>
                    </a:solidFill>
                  </a:tcPr>
                </a:tc>
                <a:tc>
                  <a:txBody>
                    <a:bodyPr/>
                    <a:lstStyle/>
                    <a:p>
                      <a:pPr>
                        <a:defRPr sz="950">
                          <a:solidFill>
                            <a:srgbClr val="222222"/>
                          </a:solidFill>
                          <a:latin typeface="Meiryo UI"/>
                        </a:defRPr>
                      </a:pPr>
                      <a:r>
                        <a:t>・重点能力に対応する座学・ケース課題を受講（80点基準）</a:t>
                      </a:r>
                      <a:br/>
                      <a:r>
                        <a:t>・案件実務への意図的アサイン、同行・部分担当の推進</a:t>
                      </a:r>
                    </a:p>
                  </a:txBody>
                  <a:tcPr anchor="ctr">
                    <a:solidFill>
                      <a:srgbClr val="FFFFFF"/>
                    </a:solidFill>
                  </a:tcPr>
                </a:tc>
                <a:tc>
                  <a:txBody>
                    <a:bodyPr/>
                    <a:lstStyle/>
                    <a:p>
                      <a:pPr>
                        <a:defRPr sz="950">
                          <a:solidFill>
                            <a:srgbClr val="222222"/>
                          </a:solidFill>
                          <a:latin typeface="Meiryo UI"/>
                        </a:defRPr>
                      </a:pPr>
                      <a:r>
                        <a:t>対象者</a:t>
                      </a:r>
                      <a:br/>
                      <a:r>
                        <a:t>指導員</a:t>
                      </a:r>
                    </a:p>
                  </a:txBody>
                  <a:tcPr anchor="ctr">
                    <a:solidFill>
                      <a:srgbClr val="FFFFFF"/>
                    </a:solidFill>
                  </a:tcPr>
                </a:tc>
              </a:tr>
              <a:tr h="627017">
                <a:tc>
                  <a:txBody>
                    <a:bodyPr/>
                    <a:lstStyle/>
                    <a:p>
                      <a:pPr>
                        <a:defRPr sz="950">
                          <a:solidFill>
                            <a:srgbClr val="222222"/>
                          </a:solidFill>
                          <a:latin typeface="Meiryo UI"/>
                        </a:defRPr>
                      </a:pPr>
                      <a:r>
                        <a:t>11月中旬 / 12月中旬</a:t>
                      </a:r>
                    </a:p>
                  </a:txBody>
                  <a:tcPr anchor="ctr">
                    <a:solidFill>
                      <a:srgbClr val="F5F7FA"/>
                    </a:solidFill>
                  </a:tcPr>
                </a:tc>
                <a:tc>
                  <a:txBody>
                    <a:bodyPr/>
                    <a:lstStyle/>
                    <a:p>
                      <a:pPr>
                        <a:defRPr sz="950">
                          <a:solidFill>
                            <a:srgbClr val="222222"/>
                          </a:solidFill>
                          <a:latin typeface="Meiryo UI"/>
                        </a:defRPr>
                      </a:pPr>
                      <a:r>
                        <a:t>月次中間フォロー</a:t>
                      </a:r>
                      <a:br/>
                      <a:r>
                        <a:t>(月次1on1)</a:t>
                      </a:r>
                    </a:p>
                  </a:txBody>
                  <a:tcPr anchor="ctr">
                    <a:solidFill>
                      <a:srgbClr val="F5F7FA"/>
                    </a:solidFill>
                  </a:tcPr>
                </a:tc>
                <a:tc>
                  <a:txBody>
                    <a:bodyPr/>
                    <a:lstStyle/>
                    <a:p>
                      <a:pPr>
                        <a:defRPr sz="950">
                          <a:solidFill>
                            <a:srgbClr val="222222"/>
                          </a:solidFill>
                          <a:latin typeface="Meiryo UI"/>
                        </a:defRPr>
                      </a:pPr>
                      <a:r>
                        <a:t>・OJT・実践状況の進捗確認、困りごとの相談</a:t>
                      </a:r>
                      <a:br/>
                      <a:r>
                        <a:t>・必要に応じたアサインの調整、座学受講状況の確認</a:t>
                      </a:r>
                    </a:p>
                  </a:txBody>
                  <a:tcPr anchor="ctr">
                    <a:solidFill>
                      <a:srgbClr val="F5F7FA"/>
                    </a:solidFill>
                  </a:tcPr>
                </a:tc>
                <a:tc>
                  <a:txBody>
                    <a:bodyPr/>
                    <a:lstStyle/>
                    <a:p>
                      <a:pPr>
                        <a:defRPr sz="950">
                          <a:solidFill>
                            <a:srgbClr val="222222"/>
                          </a:solidFill>
                          <a:latin typeface="Meiryo UI"/>
                        </a:defRPr>
                      </a:pPr>
                      <a:r>
                        <a:t>対象者</a:t>
                      </a:r>
                      <a:br/>
                      <a:r>
                        <a:t>指導員</a:t>
                      </a:r>
                    </a:p>
                  </a:txBody>
                  <a:tcPr anchor="ctr">
                    <a:solidFill>
                      <a:srgbClr val="F5F7FA"/>
                    </a:solidFill>
                  </a:tcPr>
                </a:tc>
              </a:tr>
              <a:tr h="627017">
                <a:tc>
                  <a:txBody>
                    <a:bodyPr/>
                    <a:lstStyle/>
                    <a:p>
                      <a:pPr>
                        <a:defRPr sz="950">
                          <a:solidFill>
                            <a:srgbClr val="222222"/>
                          </a:solidFill>
                          <a:latin typeface="Meiryo UI"/>
                        </a:defRPr>
                      </a:pPr>
                      <a:r>
                        <a:t>12月下旬</a:t>
                      </a:r>
                    </a:p>
                  </a:txBody>
                  <a:tcPr anchor="ctr">
                    <a:solidFill>
                      <a:srgbClr val="FFFFFF"/>
                    </a:solidFill>
                  </a:tcPr>
                </a:tc>
                <a:tc>
                  <a:txBody>
                    <a:bodyPr/>
                    <a:lstStyle/>
                    <a:p>
                      <a:pPr>
                        <a:defRPr sz="950">
                          <a:solidFill>
                            <a:srgbClr val="222222"/>
                          </a:solidFill>
                          <a:latin typeface="Meiryo UI"/>
                        </a:defRPr>
                      </a:pPr>
                      <a:r>
                        <a:t>2Q振り返り評価会 ＆</a:t>
                      </a:r>
                      <a:br/>
                      <a:r>
                        <a:t>自走判定</a:t>
                      </a:r>
                    </a:p>
                  </a:txBody>
                  <a:tcPr anchor="ctr">
                    <a:solidFill>
                      <a:srgbClr val="FFFFFF"/>
                    </a:solidFill>
                  </a:tcPr>
                </a:tc>
                <a:tc>
                  <a:txBody>
                    <a:bodyPr/>
                    <a:lstStyle/>
                    <a:p>
                      <a:pPr>
                        <a:defRPr sz="950">
                          <a:solidFill>
                            <a:srgbClr val="222222"/>
                          </a:solidFill>
                          <a:latin typeface="Meiryo UI"/>
                        </a:defRPr>
                      </a:pPr>
                      <a:r>
                        <a:t>・成果物証跡の持ち寄りレビュー</a:t>
                      </a:r>
                      <a:br/>
                      <a:r>
                        <a:t>・定性（1〜5）・定量実績の確定と自走度（連続2回）の判定</a:t>
                      </a:r>
                    </a:p>
                  </a:txBody>
                  <a:tcPr anchor="ctr">
                    <a:solidFill>
                      <a:srgbClr val="FFFFFF"/>
                    </a:solidFill>
                  </a:tcPr>
                </a:tc>
                <a:tc>
                  <a:txBody>
                    <a:bodyPr/>
                    <a:lstStyle/>
                    <a:p>
                      <a:pPr>
                        <a:defRPr sz="950">
                          <a:solidFill>
                            <a:srgbClr val="222222"/>
                          </a:solidFill>
                          <a:latin typeface="Meiryo UI"/>
                        </a:defRPr>
                      </a:pPr>
                      <a:r>
                        <a:t>対象者</a:t>
                      </a:r>
                      <a:br/>
                      <a:r>
                        <a:t>指導員</a:t>
                      </a:r>
                      <a:br/>
                      <a:r>
                        <a:t>PMO</a:t>
                      </a:r>
                    </a:p>
                  </a:txBody>
                  <a:tcPr anchor="ctr">
                    <a:solidFill>
                      <a:srgbClr val="FFFFFF"/>
                    </a:solidFill>
                  </a:tcPr>
                </a:tc>
              </a:tr>
              <a:tr h="627018">
                <a:tc>
                  <a:txBody>
                    <a:bodyPr/>
                    <a:lstStyle/>
                    <a:p>
                      <a:pPr>
                        <a:defRPr sz="950">
                          <a:solidFill>
                            <a:srgbClr val="222222"/>
                          </a:solidFill>
                          <a:latin typeface="Meiryo UI"/>
                        </a:defRPr>
                      </a:pPr>
                      <a:r>
                        <a:t>2027年1月〜</a:t>
                      </a:r>
                    </a:p>
                  </a:txBody>
                  <a:tcPr anchor="ctr">
                    <a:solidFill>
                      <a:srgbClr val="F5F7FA"/>
                    </a:solidFill>
                  </a:tcPr>
                </a:tc>
                <a:tc>
                  <a:txBody>
                    <a:bodyPr/>
                    <a:lstStyle/>
                    <a:p>
                      <a:pPr>
                        <a:defRPr sz="950">
                          <a:solidFill>
                            <a:srgbClr val="222222"/>
                          </a:solidFill>
                          <a:latin typeface="Meiryo UI"/>
                        </a:defRPr>
                      </a:pPr>
                      <a:r>
                        <a:t>3Q育成計画への反映</a:t>
                      </a:r>
                    </a:p>
                  </a:txBody>
                  <a:tcPr anchor="ctr">
                    <a:solidFill>
                      <a:srgbClr val="F5F7FA"/>
                    </a:solidFill>
                  </a:tcPr>
                </a:tc>
                <a:tc>
                  <a:txBody>
                    <a:bodyPr/>
                    <a:lstStyle/>
                    <a:p>
                      <a:pPr>
                        <a:defRPr sz="950">
                          <a:solidFill>
                            <a:srgbClr val="222222"/>
                          </a:solidFill>
                          <a:latin typeface="Meiryo UI"/>
                        </a:defRPr>
                      </a:pPr>
                      <a:r>
                        <a:t>・2Qで自走判定された能力を卒業し、新たな重点能力を選定</a:t>
                      </a:r>
                      <a:br/>
                      <a:r>
                        <a:t>・次四半期の育成PDCAサイクルへ移行</a:t>
                      </a:r>
                    </a:p>
                  </a:txBody>
                  <a:tcPr anchor="ctr">
                    <a:solidFill>
                      <a:srgbClr val="F5F7FA"/>
                    </a:solidFill>
                  </a:tcPr>
                </a:tc>
                <a:tc>
                  <a:txBody>
                    <a:bodyPr/>
                    <a:lstStyle/>
                    <a:p>
                      <a:pPr>
                        <a:defRPr sz="950">
                          <a:solidFill>
                            <a:srgbClr val="222222"/>
                          </a:solidFill>
                          <a:latin typeface="Meiryo UI"/>
                        </a:defRPr>
                      </a:pPr>
                      <a:r>
                        <a:t>全員</a:t>
                      </a:r>
                    </a:p>
                  </a:txBody>
                  <a:tcPr anchor="ctr">
                    <a:solidFill>
                      <a:srgbClr val="F5F7F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731520"/>
            <a:ext cx="10728655" cy="822960"/>
          </a:xfrm>
          <a:prstGeom prst="rect">
            <a:avLst/>
          </a:prstGeom>
          <a:noFill/>
        </p:spPr>
        <p:txBody>
          <a:bodyPr wrap="none">
            <a:spAutoFit/>
          </a:bodyPr>
          <a:lstStyle/>
          <a:p>
            <a:pPr>
              <a:defRPr sz="2200" b="1">
                <a:solidFill>
                  <a:srgbClr val="FFFFFF"/>
                </a:solidFill>
                <a:latin typeface="Meiryo UI"/>
              </a:defRPr>
            </a:pPr>
            <a:r>
              <a:t>まとめ： 「経験頼みの育成」から「自走を生み出す計画的育成」へ</a:t>
            </a:r>
          </a:p>
        </p:txBody>
      </p:sp>
      <p:sp>
        <p:nvSpPr>
          <p:cNvPr id="3" name="Rounded Rectangle 2"/>
          <p:cNvSpPr/>
          <p:nvPr/>
        </p:nvSpPr>
        <p:spPr>
          <a:xfrm>
            <a:off x="731520" y="1737360"/>
            <a:ext cx="3429000" cy="3108960"/>
          </a:xfrm>
          <a:prstGeom prst="roundRect">
            <a:avLst/>
          </a:prstGeom>
          <a:solidFill>
            <a:srgbClr val="0F2541"/>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400"/>
              </a:spcAft>
              <a:defRPr sz="1200" b="1">
                <a:solidFill>
                  <a:srgbClr val="E2F0D9"/>
                </a:solidFill>
                <a:latin typeface="Meiryo UI"/>
              </a:defRPr>
            </a:pPr>
            <a:r>
              <a:t>Point 1</a:t>
            </a:r>
          </a:p>
          <a:p>
            <a:pPr>
              <a:spcAft>
                <a:spcPts val="1000"/>
              </a:spcAft>
              <a:defRPr sz="1600" b="1">
                <a:solidFill>
                  <a:srgbClr val="FFFFFF"/>
                </a:solidFill>
                <a:latin typeface="Meiryo UI"/>
              </a:defRPr>
            </a:pPr>
            <a:r>
              <a:t>共通指標の確立</a:t>
            </a:r>
          </a:p>
          <a:p>
            <a:pPr>
              <a:defRPr sz="1100">
                <a:solidFill>
                  <a:srgbClr val="D2E1F0"/>
                </a:solidFill>
                <a:latin typeface="Meiryo UI"/>
              </a:defRPr>
            </a:pPr>
            <a:r>
              <a:t>1Qの課題であった基準の属人化を脱し、「PM_指標.xlsx」によって組織全員が同じ物差しで能力を見える化・育成します。</a:t>
            </a:r>
          </a:p>
        </p:txBody>
      </p:sp>
      <p:sp>
        <p:nvSpPr>
          <p:cNvPr id="4" name="Rounded Rectangle 3"/>
          <p:cNvSpPr/>
          <p:nvPr/>
        </p:nvSpPr>
        <p:spPr>
          <a:xfrm>
            <a:off x="4379976" y="1737360"/>
            <a:ext cx="3429000" cy="3108960"/>
          </a:xfrm>
          <a:prstGeom prst="roundRect">
            <a:avLst/>
          </a:prstGeom>
          <a:solidFill>
            <a:srgbClr val="0F2541"/>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400"/>
              </a:spcAft>
              <a:defRPr sz="1200" b="1">
                <a:solidFill>
                  <a:srgbClr val="E2F0D9"/>
                </a:solidFill>
                <a:latin typeface="Meiryo UI"/>
              </a:defRPr>
            </a:pPr>
            <a:r>
              <a:t>Point 2</a:t>
            </a:r>
          </a:p>
          <a:p>
            <a:pPr>
              <a:spcAft>
                <a:spcPts val="1000"/>
              </a:spcAft>
              <a:defRPr sz="1600" b="1">
                <a:solidFill>
                  <a:srgbClr val="FFFFFF"/>
                </a:solidFill>
                <a:latin typeface="Meiryo UI"/>
              </a:defRPr>
            </a:pPr>
            <a:r>
              <a:t>座学・OJT・実践の分離</a:t>
            </a:r>
          </a:p>
          <a:p>
            <a:pPr>
              <a:defRPr sz="1100">
                <a:solidFill>
                  <a:srgbClr val="D2E1F0"/>
                </a:solidFill>
                <a:latin typeface="Meiryo UI"/>
              </a:defRPr>
            </a:pPr>
            <a:r>
              <a:t>実務機会の有無に左右されず、座学でインプット先行、OJTで伴走、実践で自走度測定を行う3本柱の体制を整えました。</a:t>
            </a:r>
          </a:p>
        </p:txBody>
      </p:sp>
      <p:sp>
        <p:nvSpPr>
          <p:cNvPr id="5" name="Rounded Rectangle 4"/>
          <p:cNvSpPr/>
          <p:nvPr/>
        </p:nvSpPr>
        <p:spPr>
          <a:xfrm>
            <a:off x="8028432" y="1737360"/>
            <a:ext cx="3429000" cy="3108960"/>
          </a:xfrm>
          <a:prstGeom prst="roundRect">
            <a:avLst/>
          </a:prstGeom>
          <a:solidFill>
            <a:srgbClr val="0F2541"/>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400"/>
              </a:spcAft>
              <a:defRPr sz="1200" b="1">
                <a:solidFill>
                  <a:srgbClr val="E2F0D9"/>
                </a:solidFill>
                <a:latin typeface="Meiryo UI"/>
              </a:defRPr>
            </a:pPr>
            <a:r>
              <a:t>Point 3</a:t>
            </a:r>
          </a:p>
          <a:p>
            <a:pPr>
              <a:spcAft>
                <a:spcPts val="1000"/>
              </a:spcAft>
              <a:defRPr sz="1600" b="1">
                <a:solidFill>
                  <a:srgbClr val="FFFFFF"/>
                </a:solidFill>
                <a:latin typeface="Meiryo UI"/>
              </a:defRPr>
            </a:pPr>
            <a:r>
              <a:t>自走をゴールに個別最適化</a:t>
            </a:r>
          </a:p>
          <a:p>
            <a:pPr>
              <a:defRPr sz="1100">
                <a:solidFill>
                  <a:srgbClr val="D2E1F0"/>
                </a:solidFill>
                <a:latin typeface="Meiryo UI"/>
              </a:defRPr>
            </a:pPr>
            <a:r>
              <a:t>一人で抱え込まず適切な上申を含めて業務を完結できる「自走型PM」へ向け、個人の現在地に合わせたPDCAを回します。</a:t>
            </a:r>
          </a:p>
        </p:txBody>
      </p:sp>
      <p:sp>
        <p:nvSpPr>
          <p:cNvPr id="6" name="Rounded Rectangle 5"/>
          <p:cNvSpPr/>
          <p:nvPr/>
        </p:nvSpPr>
        <p:spPr>
          <a:xfrm>
            <a:off x="731520" y="5120640"/>
            <a:ext cx="10728655" cy="1188720"/>
          </a:xfrm>
          <a:prstGeom prst="roundRect">
            <a:avLst/>
          </a:prstGeom>
          <a:solidFill>
            <a:srgbClr val="1A5276"/>
          </a:solidFill>
          <a:ln w="25400">
            <a:solidFill>
              <a:srgbClr val="E2F0D9"/>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spcAft>
                <a:spcPts val="400"/>
              </a:spcAft>
              <a:defRPr sz="1300" b="1">
                <a:solidFill>
                  <a:srgbClr val="FFFFFF"/>
                </a:solidFill>
                <a:latin typeface="Meiryo UI"/>
              </a:defRPr>
            </a:pPr>
            <a:r>
              <a:t>自走できるPMへの成長は、プロジェクトの成功と個人の市場価値向上の双方に直結します。</a:t>
            </a:r>
            <a:br/>
            <a:r>
              <a:t>皆で指標を活用し、より強固なPM組織を創っていきましょう！</a:t>
            </a:r>
          </a:p>
          <a:p>
            <a:pPr>
              <a:defRPr sz="1100">
                <a:solidFill>
                  <a:srgbClr val="E2F0D9"/>
                </a:solidFill>
                <a:latin typeface="Meiryo UI"/>
              </a:defRPr>
            </a:pPr>
            <a:r>
              <a:t>ご清聴ありがとうございました。 質疑応答（Q&amp;A）に移ります。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